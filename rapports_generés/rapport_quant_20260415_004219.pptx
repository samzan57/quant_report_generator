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88952" cy="3810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10972800" cy="914400"/>
          </a:xfrm>
          <a:prstGeom prst="rect">
            <a:avLst/>
          </a:prstGeom>
          <a:noFill/>
        </p:spPr>
        <p:txBody>
          <a:bodyPr wrap="square">
            <a:spAutoFit/>
          </a:bodyPr>
          <a:lstStyle/>
          <a:p>
            <a:pPr algn="ctr"/>
            <a:r>
              <a:rPr sz="3200" b="1">
                <a:solidFill>
                  <a:srgbClr val="00D4FF"/>
                </a:solidFill>
                <a:latin typeface="Calibri"/>
              </a:rPr>
              <a:t>RAPPORT D'ANALYSE QUANTITATIVE</a:t>
            </a:r>
          </a:p>
        </p:txBody>
      </p:sp>
      <p:sp>
        <p:nvSpPr>
          <p:cNvPr id="5" name="TextBox 4"/>
          <p:cNvSpPr txBox="1"/>
          <p:nvPr/>
        </p:nvSpPr>
        <p:spPr>
          <a:xfrm>
            <a:off x="457200" y="2103120"/>
            <a:ext cx="10972800" cy="731520"/>
          </a:xfrm>
          <a:prstGeom prst="rect">
            <a:avLst/>
          </a:prstGeom>
          <a:noFill/>
        </p:spPr>
        <p:txBody>
          <a:bodyPr wrap="square">
            <a:spAutoFit/>
          </a:bodyPr>
          <a:lstStyle/>
          <a:p>
            <a:pPr algn="ctr"/>
            <a:r>
              <a:rPr sz="2200" b="1">
                <a:solidFill>
                  <a:srgbClr val="FFFFFF"/>
                </a:solidFill>
                <a:latin typeface="Calibri"/>
              </a:rPr>
              <a:t>ORCL</a:t>
            </a:r>
          </a:p>
        </p:txBody>
      </p:sp>
      <p:sp>
        <p:nvSpPr>
          <p:cNvPr id="6" name="TextBox 5"/>
          <p:cNvSpPr txBox="1"/>
          <p:nvPr/>
        </p:nvSpPr>
        <p:spPr>
          <a:xfrm>
            <a:off x="457200" y="3474720"/>
            <a:ext cx="10972800" cy="548640"/>
          </a:xfrm>
          <a:prstGeom prst="rect">
            <a:avLst/>
          </a:prstGeom>
          <a:noFill/>
        </p:spPr>
        <p:txBody>
          <a:bodyPr wrap="square">
            <a:spAutoFit/>
          </a:bodyPr>
          <a:lstStyle/>
          <a:p>
            <a:pPr algn="ctr"/>
            <a:r>
              <a:rPr sz="1400" b="0">
                <a:solidFill>
                  <a:srgbClr val="8B949E"/>
                </a:solidFill>
                <a:latin typeface="Calibri"/>
              </a:rPr>
              <a:t>prix OHLCV</a:t>
            </a:r>
          </a:p>
        </p:txBody>
      </p:sp>
      <p:sp>
        <p:nvSpPr>
          <p:cNvPr id="7" name="TextBox 6"/>
          <p:cNvSpPr txBox="1"/>
          <p:nvPr/>
        </p:nvSpPr>
        <p:spPr>
          <a:xfrm>
            <a:off x="457200" y="4023360"/>
            <a:ext cx="10972800" cy="548640"/>
          </a:xfrm>
          <a:prstGeom prst="rect">
            <a:avLst/>
          </a:prstGeom>
          <a:noFill/>
        </p:spPr>
        <p:txBody>
          <a:bodyPr wrap="square">
            <a:spAutoFit/>
          </a:bodyPr>
          <a:lstStyle/>
          <a:p>
            <a:pPr algn="ctr"/>
            <a:r>
              <a:rPr sz="1300" b="0">
                <a:solidFill>
                  <a:srgbClr val="8B949E"/>
                </a:solidFill>
                <a:latin typeface="Calibri"/>
              </a:rPr>
              <a:t>Période : du 2025-04-15 au 2025-10-08</a:t>
            </a:r>
          </a:p>
        </p:txBody>
      </p:sp>
      <p:sp>
        <p:nvSpPr>
          <p:cNvPr id="8" name="TextBox 7"/>
          <p:cNvSpPr txBox="1"/>
          <p:nvPr/>
        </p:nvSpPr>
        <p:spPr>
          <a:xfrm>
            <a:off x="457200" y="5303520"/>
            <a:ext cx="10972800" cy="457200"/>
          </a:xfrm>
          <a:prstGeom prst="rect">
            <a:avLst/>
          </a:prstGeom>
          <a:noFill/>
        </p:spPr>
        <p:txBody>
          <a:bodyPr wrap="square">
            <a:spAutoFit/>
          </a:bodyPr>
          <a:lstStyle/>
          <a:p>
            <a:pPr algn="ctr"/>
            <a:r>
              <a:rPr sz="1100" b="0">
                <a:solidFill>
                  <a:srgbClr val="8B949E"/>
                </a:solidFill>
                <a:latin typeface="Calibri"/>
              </a:rPr>
              <a:t>Généré le 15 April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0972800" cy="640080"/>
          </a:xfrm>
          <a:prstGeom prst="rect">
            <a:avLst/>
          </a:prstGeom>
          <a:noFill/>
        </p:spPr>
        <p:txBody>
          <a:bodyPr wrap="square">
            <a:spAutoFit/>
          </a:bodyPr>
          <a:lstStyle/>
          <a:p>
            <a:pPr algn="l"/>
            <a:r>
              <a:rPr sz="2000" b="1">
                <a:solidFill>
                  <a:srgbClr val="00D4FF"/>
                </a:solidFill>
                <a:latin typeface="Calibri"/>
              </a:rPr>
              <a:t>RÉSUMÉ EXÉCUTIF</a:t>
            </a:r>
          </a:p>
        </p:txBody>
      </p:sp>
      <p:sp>
        <p:nvSpPr>
          <p:cNvPr id="4" name="Rectangle 3"/>
          <p:cNvSpPr/>
          <p:nvPr/>
        </p:nvSpPr>
        <p:spPr>
          <a:xfrm>
            <a:off x="274320" y="868680"/>
            <a:ext cx="11064240" cy="1905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005840"/>
            <a:ext cx="11064240" cy="137160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97280"/>
            <a:ext cx="10698480" cy="1188720"/>
          </a:xfrm>
          <a:prstGeom prst="rect">
            <a:avLst/>
          </a:prstGeom>
          <a:noFill/>
        </p:spPr>
        <p:txBody>
          <a:bodyPr wrap="square">
            <a:spAutoFit/>
          </a:bodyPr>
          <a:lstStyle/>
          <a:p>
            <a:pPr algn="l"/>
            <a:r>
              <a:rPr sz="1300" b="0">
                <a:solidFill>
                  <a:srgbClr val="FFFFFF"/>
                </a:solidFill>
                <a:latin typeface="Calibri"/>
              </a:rPr>
              <a:t>Ce fichier contient les données historiques de prix et de volume de l'action ORCL du 15 avril 2025 au 8 octobre 2025. Les données sont complètes et ne présentent aucun problème évident. Les analyses techniques et fondamentales peuvent être réalisées pour comprendre l'évolution du prix de l'action.</a:t>
            </a:r>
          </a:p>
        </p:txBody>
      </p:sp>
      <p:sp>
        <p:nvSpPr>
          <p:cNvPr id="7" name="TextBox 6"/>
          <p:cNvSpPr txBox="1"/>
          <p:nvPr/>
        </p:nvSpPr>
        <p:spPr>
          <a:xfrm>
            <a:off x="274320" y="2560320"/>
            <a:ext cx="5303520" cy="365760"/>
          </a:xfrm>
          <a:prstGeom prst="rect">
            <a:avLst/>
          </a:prstGeom>
          <a:noFill/>
        </p:spPr>
        <p:txBody>
          <a:bodyPr wrap="square">
            <a:spAutoFit/>
          </a:bodyPr>
          <a:lstStyle/>
          <a:p>
            <a:pPr algn="l"/>
            <a:r>
              <a:rPr sz="1100" b="1">
                <a:solidFill>
                  <a:srgbClr val="00D4FF"/>
                </a:solidFill>
                <a:latin typeface="Calibri"/>
              </a:rPr>
              <a:t>ACTIFS ANALYSÉS</a:t>
            </a:r>
          </a:p>
        </p:txBody>
      </p:sp>
      <p:sp>
        <p:nvSpPr>
          <p:cNvPr id="8" name="Rectangle 7"/>
          <p:cNvSpPr/>
          <p:nvPr/>
        </p:nvSpPr>
        <p:spPr>
          <a:xfrm>
            <a:off x="274320" y="2926080"/>
            <a:ext cx="5303520" cy="73152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971800"/>
            <a:ext cx="5120640" cy="640080"/>
          </a:xfrm>
          <a:prstGeom prst="rect">
            <a:avLst/>
          </a:prstGeom>
          <a:noFill/>
        </p:spPr>
        <p:txBody>
          <a:bodyPr wrap="square">
            <a:spAutoFit/>
          </a:bodyPr>
          <a:lstStyle/>
          <a:p>
            <a:pPr algn="l"/>
            <a:r>
              <a:rPr sz="1200" b="0">
                <a:solidFill>
                  <a:srgbClr val="FFFFFF"/>
                </a:solidFill>
                <a:latin typeface="Calibri"/>
              </a:rPr>
              <a:t>ORCL</a:t>
            </a:r>
          </a:p>
        </p:txBody>
      </p:sp>
      <p:sp>
        <p:nvSpPr>
          <p:cNvPr id="10" name="TextBox 9"/>
          <p:cNvSpPr txBox="1"/>
          <p:nvPr/>
        </p:nvSpPr>
        <p:spPr>
          <a:xfrm>
            <a:off x="5943600" y="2560320"/>
            <a:ext cx="5303520" cy="365760"/>
          </a:xfrm>
          <a:prstGeom prst="rect">
            <a:avLst/>
          </a:prstGeom>
          <a:noFill/>
        </p:spPr>
        <p:txBody>
          <a:bodyPr wrap="square">
            <a:spAutoFit/>
          </a:bodyPr>
          <a:lstStyle/>
          <a:p>
            <a:pPr algn="l"/>
            <a:r>
              <a:rPr sz="1100" b="1">
                <a:solidFill>
                  <a:srgbClr val="00D4FF"/>
                </a:solidFill>
                <a:latin typeface="Calibri"/>
              </a:rPr>
              <a:t>QUALITÉ DES DONNÉES</a:t>
            </a:r>
          </a:p>
        </p:txBody>
      </p:sp>
      <p:sp>
        <p:nvSpPr>
          <p:cNvPr id="11" name="Rectangle 10"/>
          <p:cNvSpPr/>
          <p:nvPr/>
        </p:nvSpPr>
        <p:spPr>
          <a:xfrm>
            <a:off x="5943600" y="2926080"/>
            <a:ext cx="5303520" cy="73152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0" y="2971800"/>
            <a:ext cx="5120640" cy="640080"/>
          </a:xfrm>
          <a:prstGeom prst="rect">
            <a:avLst/>
          </a:prstGeom>
          <a:noFill/>
        </p:spPr>
        <p:txBody>
          <a:bodyPr wrap="square">
            <a:spAutoFit/>
          </a:bodyPr>
          <a:lstStyle/>
          <a:p>
            <a:pPr algn="l"/>
            <a:r>
              <a:rPr sz="1400" b="1">
                <a:solidFill>
                  <a:srgbClr val="00FF88"/>
                </a:solidFill>
                <a:latin typeface="Calibri"/>
              </a:rPr>
              <a:t>BONNE</a:t>
            </a:r>
          </a:p>
        </p:txBody>
      </p:sp>
      <p:sp>
        <p:nvSpPr>
          <p:cNvPr id="13" name="TextBox 12"/>
          <p:cNvSpPr txBox="1"/>
          <p:nvPr/>
        </p:nvSpPr>
        <p:spPr>
          <a:xfrm>
            <a:off x="274320" y="3840480"/>
            <a:ext cx="11064240" cy="365760"/>
          </a:xfrm>
          <a:prstGeom prst="rect">
            <a:avLst/>
          </a:prstGeom>
          <a:noFill/>
        </p:spPr>
        <p:txBody>
          <a:bodyPr wrap="square">
            <a:spAutoFit/>
          </a:bodyPr>
          <a:lstStyle/>
          <a:p>
            <a:pPr algn="l"/>
            <a:r>
              <a:rPr sz="1100" b="1">
                <a:solidFill>
                  <a:srgbClr val="00D4FF"/>
                </a:solidFill>
                <a:latin typeface="Calibri"/>
              </a:rPr>
              <a:t>ANALYSES RÉALISÉES</a:t>
            </a:r>
          </a:p>
        </p:txBody>
      </p:sp>
      <p:sp>
        <p:nvSpPr>
          <p:cNvPr id="14" name="Rectangle 13"/>
          <p:cNvSpPr/>
          <p:nvPr/>
        </p:nvSpPr>
        <p:spPr>
          <a:xfrm>
            <a:off x="274320" y="4206240"/>
            <a:ext cx="11064240" cy="182880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97680"/>
            <a:ext cx="10698480" cy="1645920"/>
          </a:xfrm>
          <a:prstGeom prst="rect">
            <a:avLst/>
          </a:prstGeom>
          <a:noFill/>
        </p:spPr>
        <p:txBody>
          <a:bodyPr wrap="square">
            <a:spAutoFit/>
          </a:bodyPr>
          <a:lstStyle/>
          <a:p>
            <a:pPr algn="l"/>
            <a:r>
              <a:rPr sz="1100" b="0">
                <a:solidFill>
                  <a:srgbClr val="FFFFFF"/>
                </a:solidFill>
                <a:latin typeface="Calibri"/>
              </a:rPr>
              <a:t>analyse technique  •  analyse fondamentale  •  prévision de prix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548640"/>
          </a:xfrm>
          <a:prstGeom prst="rect">
            <a:avLst/>
          </a:prstGeom>
          <a:noFill/>
        </p:spPr>
        <p:txBody>
          <a:bodyPr wrap="square">
            <a:spAutoFit/>
          </a:bodyPr>
          <a:lstStyle/>
          <a:p>
            <a:pPr algn="l"/>
            <a:r>
              <a:rPr sz="1800" b="1">
                <a:solidFill>
                  <a:srgbClr val="00D4FF"/>
                </a:solidFill>
                <a:latin typeface="Calibri"/>
              </a:rPr>
              <a:t>BLACK-SCHOLES &amp; GREEKS — ORCL</a:t>
            </a:r>
          </a:p>
        </p:txBody>
      </p:sp>
      <p:sp>
        <p:nvSpPr>
          <p:cNvPr id="4" name="Rectangle 3"/>
          <p:cNvSpPr/>
          <p:nvPr/>
        </p:nvSpPr>
        <p:spPr>
          <a:xfrm>
            <a:off x="274320" y="731520"/>
            <a:ext cx="11064240" cy="1905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914400"/>
            <a:ext cx="11064240" cy="73152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05840"/>
            <a:ext cx="10698480" cy="548640"/>
          </a:xfrm>
          <a:prstGeom prst="rect">
            <a:avLst/>
          </a:prstGeom>
          <a:noFill/>
        </p:spPr>
        <p:txBody>
          <a:bodyPr wrap="square">
            <a:spAutoFit/>
          </a:bodyPr>
          <a:lstStyle/>
          <a:p>
            <a:pPr algn="ctr"/>
            <a:r>
              <a:rPr sz="1300" b="0">
                <a:solidFill>
                  <a:srgbClr val="FFFFFF"/>
                </a:solidFill>
                <a:latin typeface="Calibri"/>
              </a:rPr>
              <a:t>S = 163.00  |  σ = 61.6%  |  r = 2.0%  |  Modèle : Black-Scholes (1973)</a:t>
            </a:r>
          </a:p>
        </p:txBody>
      </p:sp>
      <p:sp>
        <p:nvSpPr>
          <p:cNvPr id="7" name="TextBox 6"/>
          <p:cNvSpPr txBox="1"/>
          <p:nvPr/>
        </p:nvSpPr>
        <p:spPr>
          <a:xfrm>
            <a:off x="274320" y="1828800"/>
            <a:ext cx="1828800" cy="365760"/>
          </a:xfrm>
          <a:prstGeom prst="rect">
            <a:avLst/>
          </a:prstGeom>
          <a:noFill/>
        </p:spPr>
        <p:txBody>
          <a:bodyPr wrap="square">
            <a:spAutoFit/>
          </a:bodyPr>
          <a:lstStyle/>
          <a:p>
            <a:pPr algn="l"/>
            <a:r>
              <a:rPr sz="1000" b="1">
                <a:solidFill>
                  <a:srgbClr val="00D4FF"/>
                </a:solidFill>
                <a:latin typeface="Calibri"/>
              </a:rPr>
              <a:t>Maturité</a:t>
            </a:r>
          </a:p>
        </p:txBody>
      </p:sp>
      <p:sp>
        <p:nvSpPr>
          <p:cNvPr id="8" name="TextBox 7"/>
          <p:cNvSpPr txBox="1"/>
          <p:nvPr/>
        </p:nvSpPr>
        <p:spPr>
          <a:xfrm>
            <a:off x="2103120" y="1828800"/>
            <a:ext cx="1828800" cy="365760"/>
          </a:xfrm>
          <a:prstGeom prst="rect">
            <a:avLst/>
          </a:prstGeom>
          <a:noFill/>
        </p:spPr>
        <p:txBody>
          <a:bodyPr wrap="square">
            <a:spAutoFit/>
          </a:bodyPr>
          <a:lstStyle/>
          <a:p>
            <a:pPr algn="l"/>
            <a:r>
              <a:rPr sz="1000" b="1">
                <a:solidFill>
                  <a:srgbClr val="00D4FF"/>
                </a:solidFill>
                <a:latin typeface="Calibri"/>
              </a:rPr>
              <a:t>Call Prix</a:t>
            </a:r>
          </a:p>
        </p:txBody>
      </p:sp>
      <p:sp>
        <p:nvSpPr>
          <p:cNvPr id="9" name="TextBox 8"/>
          <p:cNvSpPr txBox="1"/>
          <p:nvPr/>
        </p:nvSpPr>
        <p:spPr>
          <a:xfrm>
            <a:off x="3749039" y="1828800"/>
            <a:ext cx="1828800" cy="365760"/>
          </a:xfrm>
          <a:prstGeom prst="rect">
            <a:avLst/>
          </a:prstGeom>
          <a:noFill/>
        </p:spPr>
        <p:txBody>
          <a:bodyPr wrap="square">
            <a:spAutoFit/>
          </a:bodyPr>
          <a:lstStyle/>
          <a:p>
            <a:pPr algn="l"/>
            <a:r>
              <a:rPr sz="1000" b="1">
                <a:solidFill>
                  <a:srgbClr val="00D4FF"/>
                </a:solidFill>
                <a:latin typeface="Calibri"/>
              </a:rPr>
              <a:t>Put Prix</a:t>
            </a:r>
          </a:p>
        </p:txBody>
      </p:sp>
      <p:sp>
        <p:nvSpPr>
          <p:cNvPr id="10" name="TextBox 9"/>
          <p:cNvSpPr txBox="1"/>
          <p:nvPr/>
        </p:nvSpPr>
        <p:spPr>
          <a:xfrm>
            <a:off x="5394960" y="1828800"/>
            <a:ext cx="1828800" cy="365760"/>
          </a:xfrm>
          <a:prstGeom prst="rect">
            <a:avLst/>
          </a:prstGeom>
          <a:noFill/>
        </p:spPr>
        <p:txBody>
          <a:bodyPr wrap="square">
            <a:spAutoFit/>
          </a:bodyPr>
          <a:lstStyle/>
          <a:p>
            <a:pPr algn="l"/>
            <a:r>
              <a:rPr sz="1000" b="1">
                <a:solidFill>
                  <a:srgbClr val="00D4FF"/>
                </a:solidFill>
                <a:latin typeface="Calibri"/>
              </a:rPr>
              <a:t>Delta C</a:t>
            </a:r>
          </a:p>
        </p:txBody>
      </p:sp>
      <p:sp>
        <p:nvSpPr>
          <p:cNvPr id="11" name="TextBox 10"/>
          <p:cNvSpPr txBox="1"/>
          <p:nvPr/>
        </p:nvSpPr>
        <p:spPr>
          <a:xfrm>
            <a:off x="7040880" y="1828800"/>
            <a:ext cx="1828800" cy="365760"/>
          </a:xfrm>
          <a:prstGeom prst="rect">
            <a:avLst/>
          </a:prstGeom>
          <a:noFill/>
        </p:spPr>
        <p:txBody>
          <a:bodyPr wrap="square">
            <a:spAutoFit/>
          </a:bodyPr>
          <a:lstStyle/>
          <a:p>
            <a:pPr algn="l"/>
            <a:r>
              <a:rPr sz="1000" b="1">
                <a:solidFill>
                  <a:srgbClr val="00D4FF"/>
                </a:solidFill>
                <a:latin typeface="Calibri"/>
              </a:rPr>
              <a:t>Gamma</a:t>
            </a:r>
          </a:p>
        </p:txBody>
      </p:sp>
      <p:sp>
        <p:nvSpPr>
          <p:cNvPr id="12" name="TextBox 11"/>
          <p:cNvSpPr txBox="1"/>
          <p:nvPr/>
        </p:nvSpPr>
        <p:spPr>
          <a:xfrm>
            <a:off x="8686800" y="1828800"/>
            <a:ext cx="1828800" cy="365760"/>
          </a:xfrm>
          <a:prstGeom prst="rect">
            <a:avLst/>
          </a:prstGeom>
          <a:noFill/>
        </p:spPr>
        <p:txBody>
          <a:bodyPr wrap="square">
            <a:spAutoFit/>
          </a:bodyPr>
          <a:lstStyle/>
          <a:p>
            <a:pPr algn="l"/>
            <a:r>
              <a:rPr sz="1000" b="1">
                <a:solidFill>
                  <a:srgbClr val="00D4FF"/>
                </a:solidFill>
                <a:latin typeface="Calibri"/>
              </a:rPr>
              <a:t>Vega</a:t>
            </a:r>
          </a:p>
        </p:txBody>
      </p:sp>
      <p:sp>
        <p:nvSpPr>
          <p:cNvPr id="13" name="TextBox 12"/>
          <p:cNvSpPr txBox="1"/>
          <p:nvPr/>
        </p:nvSpPr>
        <p:spPr>
          <a:xfrm>
            <a:off x="10332720" y="1828800"/>
            <a:ext cx="1828800" cy="365760"/>
          </a:xfrm>
          <a:prstGeom prst="rect">
            <a:avLst/>
          </a:prstGeom>
          <a:noFill/>
        </p:spPr>
        <p:txBody>
          <a:bodyPr wrap="square">
            <a:spAutoFit/>
          </a:bodyPr>
          <a:lstStyle/>
          <a:p>
            <a:pPr algn="l"/>
            <a:r>
              <a:rPr sz="1000" b="1">
                <a:solidFill>
                  <a:srgbClr val="00D4FF"/>
                </a:solidFill>
                <a:latin typeface="Calibri"/>
              </a:rPr>
              <a:t>Theta C</a:t>
            </a:r>
          </a:p>
        </p:txBody>
      </p:sp>
      <p:sp>
        <p:nvSpPr>
          <p:cNvPr id="14" name="Rectangle 13"/>
          <p:cNvSpPr/>
          <p:nvPr/>
        </p:nvSpPr>
        <p:spPr>
          <a:xfrm>
            <a:off x="274320" y="2286000"/>
            <a:ext cx="11430000" cy="59436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2395728"/>
            <a:ext cx="1737360" cy="411480"/>
          </a:xfrm>
          <a:prstGeom prst="rect">
            <a:avLst/>
          </a:prstGeom>
          <a:noFill/>
        </p:spPr>
        <p:txBody>
          <a:bodyPr wrap="square">
            <a:spAutoFit/>
          </a:bodyPr>
          <a:lstStyle/>
          <a:p>
            <a:pPr algn="l"/>
            <a:r>
              <a:rPr sz="1000" b="0">
                <a:solidFill>
                  <a:srgbClr val="FFFFFF"/>
                </a:solidFill>
                <a:latin typeface="Calibri"/>
              </a:rPr>
              <a:t>1 mois</a:t>
            </a:r>
          </a:p>
        </p:txBody>
      </p:sp>
      <p:sp>
        <p:nvSpPr>
          <p:cNvPr id="16" name="TextBox 15"/>
          <p:cNvSpPr txBox="1"/>
          <p:nvPr/>
        </p:nvSpPr>
        <p:spPr>
          <a:xfrm>
            <a:off x="2103120" y="2395728"/>
            <a:ext cx="1737360" cy="411480"/>
          </a:xfrm>
          <a:prstGeom prst="rect">
            <a:avLst/>
          </a:prstGeom>
          <a:noFill/>
        </p:spPr>
        <p:txBody>
          <a:bodyPr wrap="square">
            <a:spAutoFit/>
          </a:bodyPr>
          <a:lstStyle/>
          <a:p>
            <a:pPr algn="l"/>
            <a:r>
              <a:rPr sz="1000" b="0">
                <a:solidFill>
                  <a:srgbClr val="00FF88"/>
                </a:solidFill>
                <a:latin typeface="Calibri"/>
              </a:rPr>
              <a:t>11.6805</a:t>
            </a:r>
          </a:p>
        </p:txBody>
      </p:sp>
      <p:sp>
        <p:nvSpPr>
          <p:cNvPr id="17" name="TextBox 16"/>
          <p:cNvSpPr txBox="1"/>
          <p:nvPr/>
        </p:nvSpPr>
        <p:spPr>
          <a:xfrm>
            <a:off x="3749039" y="2395728"/>
            <a:ext cx="1737360" cy="411480"/>
          </a:xfrm>
          <a:prstGeom prst="rect">
            <a:avLst/>
          </a:prstGeom>
          <a:noFill/>
        </p:spPr>
        <p:txBody>
          <a:bodyPr wrap="square">
            <a:spAutoFit/>
          </a:bodyPr>
          <a:lstStyle/>
          <a:p>
            <a:pPr algn="l"/>
            <a:r>
              <a:rPr sz="1000" b="0">
                <a:solidFill>
                  <a:srgbClr val="FF4444"/>
                </a:solidFill>
                <a:latin typeface="Calibri"/>
              </a:rPr>
              <a:t>11.4090</a:t>
            </a:r>
          </a:p>
        </p:txBody>
      </p:sp>
      <p:sp>
        <p:nvSpPr>
          <p:cNvPr id="18" name="TextBox 17"/>
          <p:cNvSpPr txBox="1"/>
          <p:nvPr/>
        </p:nvSpPr>
        <p:spPr>
          <a:xfrm>
            <a:off x="5394960" y="2395728"/>
            <a:ext cx="1737360" cy="411480"/>
          </a:xfrm>
          <a:prstGeom prst="rect">
            <a:avLst/>
          </a:prstGeom>
          <a:noFill/>
        </p:spPr>
        <p:txBody>
          <a:bodyPr wrap="square">
            <a:spAutoFit/>
          </a:bodyPr>
          <a:lstStyle/>
          <a:p>
            <a:pPr algn="l"/>
            <a:r>
              <a:rPr sz="1000" b="0">
                <a:solidFill>
                  <a:srgbClr val="FFFFFF"/>
                </a:solidFill>
                <a:latin typeface="Calibri"/>
              </a:rPr>
              <a:t>0.5392</a:t>
            </a:r>
          </a:p>
        </p:txBody>
      </p:sp>
      <p:sp>
        <p:nvSpPr>
          <p:cNvPr id="19" name="TextBox 18"/>
          <p:cNvSpPr txBox="1"/>
          <p:nvPr/>
        </p:nvSpPr>
        <p:spPr>
          <a:xfrm>
            <a:off x="7040880" y="2395728"/>
            <a:ext cx="1737360" cy="411480"/>
          </a:xfrm>
          <a:prstGeom prst="rect">
            <a:avLst/>
          </a:prstGeom>
          <a:noFill/>
        </p:spPr>
        <p:txBody>
          <a:bodyPr wrap="square">
            <a:spAutoFit/>
          </a:bodyPr>
          <a:lstStyle/>
          <a:p>
            <a:pPr algn="l"/>
            <a:r>
              <a:rPr sz="1000" b="0">
                <a:solidFill>
                  <a:srgbClr val="FFD700"/>
                </a:solidFill>
                <a:latin typeface="Calibri"/>
              </a:rPr>
              <a:t>0.013691</a:t>
            </a:r>
          </a:p>
        </p:txBody>
      </p:sp>
      <p:sp>
        <p:nvSpPr>
          <p:cNvPr id="20" name="TextBox 19"/>
          <p:cNvSpPr txBox="1"/>
          <p:nvPr/>
        </p:nvSpPr>
        <p:spPr>
          <a:xfrm>
            <a:off x="8686800" y="2395728"/>
            <a:ext cx="1737360" cy="411480"/>
          </a:xfrm>
          <a:prstGeom prst="rect">
            <a:avLst/>
          </a:prstGeom>
          <a:noFill/>
        </p:spPr>
        <p:txBody>
          <a:bodyPr wrap="square">
            <a:spAutoFit/>
          </a:bodyPr>
          <a:lstStyle/>
          <a:p>
            <a:pPr algn="l"/>
            <a:r>
              <a:rPr sz="1000" b="0">
                <a:solidFill>
                  <a:srgbClr val="FFFFFF"/>
                </a:solidFill>
                <a:latin typeface="Calibri"/>
              </a:rPr>
              <a:t>0.1868</a:t>
            </a:r>
          </a:p>
        </p:txBody>
      </p:sp>
      <p:sp>
        <p:nvSpPr>
          <p:cNvPr id="21" name="TextBox 20"/>
          <p:cNvSpPr txBox="1"/>
          <p:nvPr/>
        </p:nvSpPr>
        <p:spPr>
          <a:xfrm>
            <a:off x="10332720" y="2395728"/>
            <a:ext cx="1737360" cy="411480"/>
          </a:xfrm>
          <a:prstGeom prst="rect">
            <a:avLst/>
          </a:prstGeom>
          <a:noFill/>
        </p:spPr>
        <p:txBody>
          <a:bodyPr wrap="square">
            <a:spAutoFit/>
          </a:bodyPr>
          <a:lstStyle/>
          <a:p>
            <a:pPr algn="l"/>
            <a:r>
              <a:rPr sz="1000" b="0">
                <a:solidFill>
                  <a:srgbClr val="FF4444"/>
                </a:solidFill>
                <a:latin typeface="Calibri"/>
              </a:rPr>
              <a:t>-0.1934</a:t>
            </a:r>
          </a:p>
        </p:txBody>
      </p:sp>
      <p:sp>
        <p:nvSpPr>
          <p:cNvPr id="22" name="Rectangle 21"/>
          <p:cNvSpPr/>
          <p:nvPr/>
        </p:nvSpPr>
        <p:spPr>
          <a:xfrm>
            <a:off x="274320" y="2971800"/>
            <a:ext cx="11430000" cy="59436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3081528"/>
            <a:ext cx="1737360" cy="411480"/>
          </a:xfrm>
          <a:prstGeom prst="rect">
            <a:avLst/>
          </a:prstGeom>
          <a:noFill/>
        </p:spPr>
        <p:txBody>
          <a:bodyPr wrap="square">
            <a:spAutoFit/>
          </a:bodyPr>
          <a:lstStyle/>
          <a:p>
            <a:pPr algn="l"/>
            <a:r>
              <a:rPr sz="1000" b="0">
                <a:solidFill>
                  <a:srgbClr val="FFFFFF"/>
                </a:solidFill>
                <a:latin typeface="Calibri"/>
              </a:rPr>
              <a:t>3 mois</a:t>
            </a:r>
          </a:p>
        </p:txBody>
      </p:sp>
      <p:sp>
        <p:nvSpPr>
          <p:cNvPr id="24" name="TextBox 23"/>
          <p:cNvSpPr txBox="1"/>
          <p:nvPr/>
        </p:nvSpPr>
        <p:spPr>
          <a:xfrm>
            <a:off x="2103120" y="3081528"/>
            <a:ext cx="1737360" cy="411480"/>
          </a:xfrm>
          <a:prstGeom prst="rect">
            <a:avLst/>
          </a:prstGeom>
          <a:noFill/>
        </p:spPr>
        <p:txBody>
          <a:bodyPr wrap="square">
            <a:spAutoFit/>
          </a:bodyPr>
          <a:lstStyle/>
          <a:p>
            <a:pPr algn="l"/>
            <a:r>
              <a:rPr sz="1000" b="0">
                <a:solidFill>
                  <a:srgbClr val="00FF88"/>
                </a:solidFill>
                <a:latin typeface="Calibri"/>
              </a:rPr>
              <a:t>20.3186</a:t>
            </a:r>
          </a:p>
        </p:txBody>
      </p:sp>
      <p:sp>
        <p:nvSpPr>
          <p:cNvPr id="25" name="TextBox 24"/>
          <p:cNvSpPr txBox="1"/>
          <p:nvPr/>
        </p:nvSpPr>
        <p:spPr>
          <a:xfrm>
            <a:off x="3749039" y="3081528"/>
            <a:ext cx="1737360" cy="411480"/>
          </a:xfrm>
          <a:prstGeom prst="rect">
            <a:avLst/>
          </a:prstGeom>
          <a:noFill/>
        </p:spPr>
        <p:txBody>
          <a:bodyPr wrap="square">
            <a:spAutoFit/>
          </a:bodyPr>
          <a:lstStyle/>
          <a:p>
            <a:pPr algn="l"/>
            <a:r>
              <a:rPr sz="1000" b="0">
                <a:solidFill>
                  <a:srgbClr val="FF4444"/>
                </a:solidFill>
                <a:latin typeface="Calibri"/>
              </a:rPr>
              <a:t>19.5056</a:t>
            </a:r>
          </a:p>
        </p:txBody>
      </p:sp>
      <p:sp>
        <p:nvSpPr>
          <p:cNvPr id="26" name="TextBox 25"/>
          <p:cNvSpPr txBox="1"/>
          <p:nvPr/>
        </p:nvSpPr>
        <p:spPr>
          <a:xfrm>
            <a:off x="5394960" y="3081528"/>
            <a:ext cx="1737360" cy="411480"/>
          </a:xfrm>
          <a:prstGeom prst="rect">
            <a:avLst/>
          </a:prstGeom>
          <a:noFill/>
        </p:spPr>
        <p:txBody>
          <a:bodyPr wrap="square">
            <a:spAutoFit/>
          </a:bodyPr>
          <a:lstStyle/>
          <a:p>
            <a:pPr algn="l"/>
            <a:r>
              <a:rPr sz="1000" b="0">
                <a:solidFill>
                  <a:srgbClr val="FFFFFF"/>
                </a:solidFill>
                <a:latin typeface="Calibri"/>
              </a:rPr>
              <a:t>0.5676</a:t>
            </a:r>
          </a:p>
        </p:txBody>
      </p:sp>
      <p:sp>
        <p:nvSpPr>
          <p:cNvPr id="27" name="TextBox 26"/>
          <p:cNvSpPr txBox="1"/>
          <p:nvPr/>
        </p:nvSpPr>
        <p:spPr>
          <a:xfrm>
            <a:off x="7040880" y="3081528"/>
            <a:ext cx="1737360" cy="411480"/>
          </a:xfrm>
          <a:prstGeom prst="rect">
            <a:avLst/>
          </a:prstGeom>
          <a:noFill/>
        </p:spPr>
        <p:txBody>
          <a:bodyPr wrap="square">
            <a:spAutoFit/>
          </a:bodyPr>
          <a:lstStyle/>
          <a:p>
            <a:pPr algn="l"/>
            <a:r>
              <a:rPr sz="1000" b="0">
                <a:solidFill>
                  <a:srgbClr val="FFD700"/>
                </a:solidFill>
                <a:latin typeface="Calibri"/>
              </a:rPr>
              <a:t>0.007828</a:t>
            </a:r>
          </a:p>
        </p:txBody>
      </p:sp>
      <p:sp>
        <p:nvSpPr>
          <p:cNvPr id="28" name="TextBox 27"/>
          <p:cNvSpPr txBox="1"/>
          <p:nvPr/>
        </p:nvSpPr>
        <p:spPr>
          <a:xfrm>
            <a:off x="8686800" y="3081528"/>
            <a:ext cx="1737360" cy="411480"/>
          </a:xfrm>
          <a:prstGeom prst="rect">
            <a:avLst/>
          </a:prstGeom>
          <a:noFill/>
        </p:spPr>
        <p:txBody>
          <a:bodyPr wrap="square">
            <a:spAutoFit/>
          </a:bodyPr>
          <a:lstStyle/>
          <a:p>
            <a:pPr algn="l"/>
            <a:r>
              <a:rPr sz="1000" b="0">
                <a:solidFill>
                  <a:srgbClr val="FFFFFF"/>
                </a:solidFill>
                <a:latin typeface="Calibri"/>
              </a:rPr>
              <a:t>0.3205</a:t>
            </a:r>
          </a:p>
        </p:txBody>
      </p:sp>
      <p:sp>
        <p:nvSpPr>
          <p:cNvPr id="29" name="TextBox 28"/>
          <p:cNvSpPr txBox="1"/>
          <p:nvPr/>
        </p:nvSpPr>
        <p:spPr>
          <a:xfrm>
            <a:off x="10332720" y="3081528"/>
            <a:ext cx="1737360" cy="411480"/>
          </a:xfrm>
          <a:prstGeom prst="rect">
            <a:avLst/>
          </a:prstGeom>
          <a:noFill/>
        </p:spPr>
        <p:txBody>
          <a:bodyPr wrap="square">
            <a:spAutoFit/>
          </a:bodyPr>
          <a:lstStyle/>
          <a:p>
            <a:pPr algn="l"/>
            <a:r>
              <a:rPr sz="1000" b="0">
                <a:solidFill>
                  <a:srgbClr val="FF4444"/>
                </a:solidFill>
                <a:latin typeface="Calibri"/>
              </a:rPr>
              <a:t>-0.1122</a:t>
            </a:r>
          </a:p>
        </p:txBody>
      </p:sp>
      <p:sp>
        <p:nvSpPr>
          <p:cNvPr id="30" name="Rectangle 29"/>
          <p:cNvSpPr/>
          <p:nvPr/>
        </p:nvSpPr>
        <p:spPr>
          <a:xfrm>
            <a:off x="274320" y="3657600"/>
            <a:ext cx="11430000" cy="59436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4320" y="3767328"/>
            <a:ext cx="1737360" cy="411480"/>
          </a:xfrm>
          <a:prstGeom prst="rect">
            <a:avLst/>
          </a:prstGeom>
          <a:noFill/>
        </p:spPr>
        <p:txBody>
          <a:bodyPr wrap="square">
            <a:spAutoFit/>
          </a:bodyPr>
          <a:lstStyle/>
          <a:p>
            <a:pPr algn="l"/>
            <a:r>
              <a:rPr sz="1000" b="0">
                <a:solidFill>
                  <a:srgbClr val="FFFFFF"/>
                </a:solidFill>
                <a:latin typeface="Calibri"/>
              </a:rPr>
              <a:t>6 mois</a:t>
            </a:r>
          </a:p>
        </p:txBody>
      </p:sp>
      <p:sp>
        <p:nvSpPr>
          <p:cNvPr id="32" name="TextBox 31"/>
          <p:cNvSpPr txBox="1"/>
          <p:nvPr/>
        </p:nvSpPr>
        <p:spPr>
          <a:xfrm>
            <a:off x="2103120" y="3767328"/>
            <a:ext cx="1737360" cy="411480"/>
          </a:xfrm>
          <a:prstGeom prst="rect">
            <a:avLst/>
          </a:prstGeom>
          <a:noFill/>
        </p:spPr>
        <p:txBody>
          <a:bodyPr wrap="square">
            <a:spAutoFit/>
          </a:bodyPr>
          <a:lstStyle/>
          <a:p>
            <a:pPr algn="l"/>
            <a:r>
              <a:rPr sz="1000" b="0">
                <a:solidFill>
                  <a:srgbClr val="00FF88"/>
                </a:solidFill>
                <a:latin typeface="Calibri"/>
              </a:rPr>
              <a:t>28.7941</a:t>
            </a:r>
          </a:p>
        </p:txBody>
      </p:sp>
      <p:sp>
        <p:nvSpPr>
          <p:cNvPr id="33" name="TextBox 32"/>
          <p:cNvSpPr txBox="1"/>
          <p:nvPr/>
        </p:nvSpPr>
        <p:spPr>
          <a:xfrm>
            <a:off x="3749039" y="3767328"/>
            <a:ext cx="1737360" cy="411480"/>
          </a:xfrm>
          <a:prstGeom prst="rect">
            <a:avLst/>
          </a:prstGeom>
          <a:noFill/>
        </p:spPr>
        <p:txBody>
          <a:bodyPr wrap="square">
            <a:spAutoFit/>
          </a:bodyPr>
          <a:lstStyle/>
          <a:p>
            <a:pPr algn="l"/>
            <a:r>
              <a:rPr sz="1000" b="0">
                <a:solidFill>
                  <a:srgbClr val="FF4444"/>
                </a:solidFill>
                <a:latin typeface="Calibri"/>
              </a:rPr>
              <a:t>27.1722</a:t>
            </a:r>
          </a:p>
        </p:txBody>
      </p:sp>
      <p:sp>
        <p:nvSpPr>
          <p:cNvPr id="34" name="TextBox 33"/>
          <p:cNvSpPr txBox="1"/>
          <p:nvPr/>
        </p:nvSpPr>
        <p:spPr>
          <a:xfrm>
            <a:off x="5394960" y="3767328"/>
            <a:ext cx="1737360" cy="411480"/>
          </a:xfrm>
          <a:prstGeom prst="rect">
            <a:avLst/>
          </a:prstGeom>
          <a:noFill/>
        </p:spPr>
        <p:txBody>
          <a:bodyPr wrap="square">
            <a:spAutoFit/>
          </a:bodyPr>
          <a:lstStyle/>
          <a:p>
            <a:pPr algn="l"/>
            <a:r>
              <a:rPr sz="1000" b="0">
                <a:solidFill>
                  <a:srgbClr val="FFFFFF"/>
                </a:solidFill>
                <a:latin typeface="Calibri"/>
              </a:rPr>
              <a:t>0.5952</a:t>
            </a:r>
          </a:p>
        </p:txBody>
      </p:sp>
      <p:sp>
        <p:nvSpPr>
          <p:cNvPr id="35" name="TextBox 34"/>
          <p:cNvSpPr txBox="1"/>
          <p:nvPr/>
        </p:nvSpPr>
        <p:spPr>
          <a:xfrm>
            <a:off x="7040880" y="3767328"/>
            <a:ext cx="1737360" cy="411480"/>
          </a:xfrm>
          <a:prstGeom prst="rect">
            <a:avLst/>
          </a:prstGeom>
          <a:noFill/>
        </p:spPr>
        <p:txBody>
          <a:bodyPr wrap="square">
            <a:spAutoFit/>
          </a:bodyPr>
          <a:lstStyle/>
          <a:p>
            <a:pPr algn="l"/>
            <a:r>
              <a:rPr sz="1000" b="0">
                <a:solidFill>
                  <a:srgbClr val="FFD700"/>
                </a:solidFill>
                <a:latin typeface="Calibri"/>
              </a:rPr>
              <a:t>0.005456</a:t>
            </a:r>
          </a:p>
        </p:txBody>
      </p:sp>
      <p:sp>
        <p:nvSpPr>
          <p:cNvPr id="36" name="TextBox 35"/>
          <p:cNvSpPr txBox="1"/>
          <p:nvPr/>
        </p:nvSpPr>
        <p:spPr>
          <a:xfrm>
            <a:off x="8686800" y="3767328"/>
            <a:ext cx="1737360" cy="411480"/>
          </a:xfrm>
          <a:prstGeom prst="rect">
            <a:avLst/>
          </a:prstGeom>
          <a:noFill/>
        </p:spPr>
        <p:txBody>
          <a:bodyPr wrap="square">
            <a:spAutoFit/>
          </a:bodyPr>
          <a:lstStyle/>
          <a:p>
            <a:pPr algn="l"/>
            <a:r>
              <a:rPr sz="1000" b="0">
                <a:solidFill>
                  <a:srgbClr val="FFFFFF"/>
                </a:solidFill>
                <a:latin typeface="Calibri"/>
              </a:rPr>
              <a:t>0.4467</a:t>
            </a:r>
          </a:p>
        </p:txBody>
      </p:sp>
      <p:sp>
        <p:nvSpPr>
          <p:cNvPr id="37" name="TextBox 36"/>
          <p:cNvSpPr txBox="1"/>
          <p:nvPr/>
        </p:nvSpPr>
        <p:spPr>
          <a:xfrm>
            <a:off x="10332720" y="3767328"/>
            <a:ext cx="1737360" cy="411480"/>
          </a:xfrm>
          <a:prstGeom prst="rect">
            <a:avLst/>
          </a:prstGeom>
          <a:noFill/>
        </p:spPr>
        <p:txBody>
          <a:bodyPr wrap="square">
            <a:spAutoFit/>
          </a:bodyPr>
          <a:lstStyle/>
          <a:p>
            <a:pPr algn="l"/>
            <a:r>
              <a:rPr sz="1000" b="0">
                <a:solidFill>
                  <a:srgbClr val="FF4444"/>
                </a:solidFill>
                <a:latin typeface="Calibri"/>
              </a:rPr>
              <a:t>-0.0792</a:t>
            </a:r>
          </a:p>
        </p:txBody>
      </p:sp>
      <p:sp>
        <p:nvSpPr>
          <p:cNvPr id="38" name="Rectangle 37"/>
          <p:cNvSpPr/>
          <p:nvPr/>
        </p:nvSpPr>
        <p:spPr>
          <a:xfrm>
            <a:off x="274320" y="4343400"/>
            <a:ext cx="11430000" cy="59436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74320" y="4453128"/>
            <a:ext cx="1737360" cy="411480"/>
          </a:xfrm>
          <a:prstGeom prst="rect">
            <a:avLst/>
          </a:prstGeom>
          <a:noFill/>
        </p:spPr>
        <p:txBody>
          <a:bodyPr wrap="square">
            <a:spAutoFit/>
          </a:bodyPr>
          <a:lstStyle/>
          <a:p>
            <a:pPr algn="l"/>
            <a:r>
              <a:rPr sz="1000" b="0">
                <a:solidFill>
                  <a:srgbClr val="FFFFFF"/>
                </a:solidFill>
                <a:latin typeface="Calibri"/>
              </a:rPr>
              <a:t>1 an</a:t>
            </a:r>
          </a:p>
        </p:txBody>
      </p:sp>
      <p:sp>
        <p:nvSpPr>
          <p:cNvPr id="40" name="TextBox 39"/>
          <p:cNvSpPr txBox="1"/>
          <p:nvPr/>
        </p:nvSpPr>
        <p:spPr>
          <a:xfrm>
            <a:off x="2103120" y="4453128"/>
            <a:ext cx="1737360" cy="411480"/>
          </a:xfrm>
          <a:prstGeom prst="rect">
            <a:avLst/>
          </a:prstGeom>
          <a:noFill/>
        </p:spPr>
        <p:txBody>
          <a:bodyPr wrap="square">
            <a:spAutoFit/>
          </a:bodyPr>
          <a:lstStyle/>
          <a:p>
            <a:pPr algn="l"/>
            <a:r>
              <a:rPr sz="1000" b="0">
                <a:solidFill>
                  <a:srgbClr val="00FF88"/>
                </a:solidFill>
                <a:latin typeface="Calibri"/>
              </a:rPr>
              <a:t>40.6944</a:t>
            </a:r>
          </a:p>
        </p:txBody>
      </p:sp>
      <p:sp>
        <p:nvSpPr>
          <p:cNvPr id="41" name="TextBox 40"/>
          <p:cNvSpPr txBox="1"/>
          <p:nvPr/>
        </p:nvSpPr>
        <p:spPr>
          <a:xfrm>
            <a:off x="3749039" y="4453128"/>
            <a:ext cx="1737360" cy="411480"/>
          </a:xfrm>
          <a:prstGeom prst="rect">
            <a:avLst/>
          </a:prstGeom>
          <a:noFill/>
        </p:spPr>
        <p:txBody>
          <a:bodyPr wrap="square">
            <a:spAutoFit/>
          </a:bodyPr>
          <a:lstStyle/>
          <a:p>
            <a:pPr algn="l"/>
            <a:r>
              <a:rPr sz="1000" b="0">
                <a:solidFill>
                  <a:srgbClr val="FF4444"/>
                </a:solidFill>
                <a:latin typeface="Calibri"/>
              </a:rPr>
              <a:t>37.4668</a:t>
            </a:r>
          </a:p>
        </p:txBody>
      </p:sp>
      <p:sp>
        <p:nvSpPr>
          <p:cNvPr id="42" name="TextBox 41"/>
          <p:cNvSpPr txBox="1"/>
          <p:nvPr/>
        </p:nvSpPr>
        <p:spPr>
          <a:xfrm>
            <a:off x="5394960" y="4453128"/>
            <a:ext cx="1737360" cy="411480"/>
          </a:xfrm>
          <a:prstGeom prst="rect">
            <a:avLst/>
          </a:prstGeom>
          <a:noFill/>
        </p:spPr>
        <p:txBody>
          <a:bodyPr wrap="square">
            <a:spAutoFit/>
          </a:bodyPr>
          <a:lstStyle/>
          <a:p>
            <a:pPr algn="l"/>
            <a:r>
              <a:rPr sz="1000" b="0">
                <a:solidFill>
                  <a:srgbClr val="FFFFFF"/>
                </a:solidFill>
                <a:latin typeface="Calibri"/>
              </a:rPr>
              <a:t>0.6333</a:t>
            </a:r>
          </a:p>
        </p:txBody>
      </p:sp>
      <p:sp>
        <p:nvSpPr>
          <p:cNvPr id="43" name="TextBox 42"/>
          <p:cNvSpPr txBox="1"/>
          <p:nvPr/>
        </p:nvSpPr>
        <p:spPr>
          <a:xfrm>
            <a:off x="7040880" y="4453128"/>
            <a:ext cx="1737360" cy="411480"/>
          </a:xfrm>
          <a:prstGeom prst="rect">
            <a:avLst/>
          </a:prstGeom>
          <a:noFill/>
        </p:spPr>
        <p:txBody>
          <a:bodyPr wrap="square">
            <a:spAutoFit/>
          </a:bodyPr>
          <a:lstStyle/>
          <a:p>
            <a:pPr algn="l"/>
            <a:r>
              <a:rPr sz="1000" b="0">
                <a:solidFill>
                  <a:srgbClr val="FFD700"/>
                </a:solidFill>
                <a:latin typeface="Calibri"/>
              </a:rPr>
              <a:t>0.003747</a:t>
            </a:r>
          </a:p>
        </p:txBody>
      </p:sp>
      <p:sp>
        <p:nvSpPr>
          <p:cNvPr id="44" name="TextBox 43"/>
          <p:cNvSpPr txBox="1"/>
          <p:nvPr/>
        </p:nvSpPr>
        <p:spPr>
          <a:xfrm>
            <a:off x="8686800" y="4453128"/>
            <a:ext cx="1737360" cy="411480"/>
          </a:xfrm>
          <a:prstGeom prst="rect">
            <a:avLst/>
          </a:prstGeom>
          <a:noFill/>
        </p:spPr>
        <p:txBody>
          <a:bodyPr wrap="square">
            <a:spAutoFit/>
          </a:bodyPr>
          <a:lstStyle/>
          <a:p>
            <a:pPr algn="l"/>
            <a:r>
              <a:rPr sz="1000" b="0">
                <a:solidFill>
                  <a:srgbClr val="FFFFFF"/>
                </a:solidFill>
                <a:latin typeface="Calibri"/>
              </a:rPr>
              <a:t>0.6136</a:t>
            </a:r>
          </a:p>
        </p:txBody>
      </p:sp>
      <p:sp>
        <p:nvSpPr>
          <p:cNvPr id="45" name="TextBox 44"/>
          <p:cNvSpPr txBox="1"/>
          <p:nvPr/>
        </p:nvSpPr>
        <p:spPr>
          <a:xfrm>
            <a:off x="10332720" y="4453128"/>
            <a:ext cx="1737360" cy="411480"/>
          </a:xfrm>
          <a:prstGeom prst="rect">
            <a:avLst/>
          </a:prstGeom>
          <a:noFill/>
        </p:spPr>
        <p:txBody>
          <a:bodyPr wrap="square">
            <a:spAutoFit/>
          </a:bodyPr>
          <a:lstStyle/>
          <a:p>
            <a:pPr algn="l"/>
            <a:r>
              <a:rPr sz="1000" b="0">
                <a:solidFill>
                  <a:srgbClr val="FF4444"/>
                </a:solidFill>
                <a:latin typeface="Calibri"/>
              </a:rPr>
              <a:t>-0.0552</a:t>
            </a:r>
          </a:p>
        </p:txBody>
      </p:sp>
      <p:sp>
        <p:nvSpPr>
          <p:cNvPr id="46" name="Rectangle 45"/>
          <p:cNvSpPr/>
          <p:nvPr/>
        </p:nvSpPr>
        <p:spPr>
          <a:xfrm>
            <a:off x="274320" y="5029200"/>
            <a:ext cx="5303520" cy="109728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5120640"/>
            <a:ext cx="4937760" cy="365760"/>
          </a:xfrm>
          <a:prstGeom prst="rect">
            <a:avLst/>
          </a:prstGeom>
          <a:noFill/>
        </p:spPr>
        <p:txBody>
          <a:bodyPr wrap="square">
            <a:spAutoFit/>
          </a:bodyPr>
          <a:lstStyle/>
          <a:p>
            <a:pPr algn="l"/>
            <a:r>
              <a:rPr sz="1000" b="1">
                <a:solidFill>
                  <a:srgbClr val="00FF88"/>
                </a:solidFill>
                <a:latin typeface="Calibri"/>
              </a:rPr>
              <a:t>ATM Call (3 mois)</a:t>
            </a:r>
          </a:p>
        </p:txBody>
      </p:sp>
      <p:sp>
        <p:nvSpPr>
          <p:cNvPr id="48" name="TextBox 47"/>
          <p:cNvSpPr txBox="1"/>
          <p:nvPr/>
        </p:nvSpPr>
        <p:spPr>
          <a:xfrm>
            <a:off x="457200" y="5486400"/>
            <a:ext cx="4937760" cy="457200"/>
          </a:xfrm>
          <a:prstGeom prst="rect">
            <a:avLst/>
          </a:prstGeom>
          <a:noFill/>
        </p:spPr>
        <p:txBody>
          <a:bodyPr wrap="square">
            <a:spAutoFit/>
          </a:bodyPr>
          <a:lstStyle/>
          <a:p>
            <a:pPr algn="l"/>
            <a:r>
              <a:rPr sz="1100" b="0">
                <a:solidFill>
                  <a:srgbClr val="FFFFFF"/>
                </a:solidFill>
                <a:latin typeface="Calibri"/>
              </a:rPr>
              <a:t>Prob. exercice : 44.5%  |  Break-even : 183.32</a:t>
            </a:r>
          </a:p>
        </p:txBody>
      </p:sp>
      <p:sp>
        <p:nvSpPr>
          <p:cNvPr id="49" name="Rectangle 48"/>
          <p:cNvSpPr/>
          <p:nvPr/>
        </p:nvSpPr>
        <p:spPr>
          <a:xfrm>
            <a:off x="6035040" y="5029200"/>
            <a:ext cx="5303520" cy="109728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17920" y="5120640"/>
            <a:ext cx="4937760" cy="365760"/>
          </a:xfrm>
          <a:prstGeom prst="rect">
            <a:avLst/>
          </a:prstGeom>
          <a:noFill/>
        </p:spPr>
        <p:txBody>
          <a:bodyPr wrap="square">
            <a:spAutoFit/>
          </a:bodyPr>
          <a:lstStyle/>
          <a:p>
            <a:pPr algn="l"/>
            <a:r>
              <a:rPr sz="1000" b="1">
                <a:solidFill>
                  <a:srgbClr val="FF4444"/>
                </a:solidFill>
                <a:latin typeface="Calibri"/>
              </a:rPr>
              <a:t>ATM Put (3 mois)</a:t>
            </a:r>
          </a:p>
        </p:txBody>
      </p:sp>
      <p:sp>
        <p:nvSpPr>
          <p:cNvPr id="51" name="TextBox 50"/>
          <p:cNvSpPr txBox="1"/>
          <p:nvPr/>
        </p:nvSpPr>
        <p:spPr>
          <a:xfrm>
            <a:off x="6217920" y="5486400"/>
            <a:ext cx="4937760" cy="457200"/>
          </a:xfrm>
          <a:prstGeom prst="rect">
            <a:avLst/>
          </a:prstGeom>
          <a:noFill/>
        </p:spPr>
        <p:txBody>
          <a:bodyPr wrap="square">
            <a:spAutoFit/>
          </a:bodyPr>
          <a:lstStyle/>
          <a:p>
            <a:pPr algn="l"/>
            <a:r>
              <a:rPr sz="1100" b="0">
                <a:solidFill>
                  <a:srgbClr val="FFFFFF"/>
                </a:solidFill>
                <a:latin typeface="Calibri"/>
              </a:rPr>
              <a:t>Prob. exercice : 55.5%  |  Break-even : 143.49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548640"/>
          </a:xfrm>
          <a:prstGeom prst="rect">
            <a:avLst/>
          </a:prstGeom>
          <a:noFill/>
        </p:spPr>
        <p:txBody>
          <a:bodyPr wrap="square">
            <a:spAutoFit/>
          </a:bodyPr>
          <a:lstStyle/>
          <a:p>
            <a:pPr algn="l"/>
            <a:r>
              <a:rPr sz="1600" b="1">
                <a:solidFill>
                  <a:srgbClr val="00D4FF"/>
                </a:solidFill>
                <a:latin typeface="Calibri"/>
              </a:rPr>
              <a:t>PRICING MONTE CARLO — OPTIONS EXOTIQUES — ORCL</a:t>
            </a:r>
          </a:p>
        </p:txBody>
      </p:sp>
      <p:sp>
        <p:nvSpPr>
          <p:cNvPr id="4" name="Rectangle 3"/>
          <p:cNvSpPr/>
          <p:nvPr/>
        </p:nvSpPr>
        <p:spPr>
          <a:xfrm>
            <a:off x="274320" y="731520"/>
            <a:ext cx="11064240" cy="1905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914400"/>
            <a:ext cx="11064240" cy="64008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05840"/>
            <a:ext cx="10698480" cy="457200"/>
          </a:xfrm>
          <a:prstGeom prst="rect">
            <a:avLst/>
          </a:prstGeom>
          <a:noFill/>
        </p:spPr>
        <p:txBody>
          <a:bodyPr wrap="square">
            <a:spAutoFit/>
          </a:bodyPr>
          <a:lstStyle/>
          <a:p>
            <a:pPr algn="ctr"/>
            <a:r>
              <a:rPr sz="1200" b="0">
                <a:solidFill>
                  <a:srgbClr val="FFFFFF"/>
                </a:solidFill>
                <a:latin typeface="Calibri"/>
              </a:rPr>
              <a:t>S = 163.00  |  K = 163.00  |  σ = 61.6%  |  T = 3 mois  |  r = 2.0%</a:t>
            </a:r>
          </a:p>
        </p:txBody>
      </p:sp>
      <p:sp>
        <p:nvSpPr>
          <p:cNvPr id="7" name="TextBox 6"/>
          <p:cNvSpPr txBox="1"/>
          <p:nvPr/>
        </p:nvSpPr>
        <p:spPr>
          <a:xfrm>
            <a:off x="274320" y="1737360"/>
            <a:ext cx="2286000" cy="365760"/>
          </a:xfrm>
          <a:prstGeom prst="rect">
            <a:avLst/>
          </a:prstGeom>
          <a:noFill/>
        </p:spPr>
        <p:txBody>
          <a:bodyPr wrap="square">
            <a:spAutoFit/>
          </a:bodyPr>
          <a:lstStyle/>
          <a:p>
            <a:pPr algn="l"/>
            <a:r>
              <a:rPr sz="1000" b="1">
                <a:solidFill>
                  <a:srgbClr val="00D4FF"/>
                </a:solidFill>
                <a:latin typeface="Calibri"/>
              </a:rPr>
              <a:t>Type d'Option</a:t>
            </a:r>
          </a:p>
        </p:txBody>
      </p:sp>
      <p:sp>
        <p:nvSpPr>
          <p:cNvPr id="8" name="TextBox 7"/>
          <p:cNvSpPr txBox="1"/>
          <p:nvPr/>
        </p:nvSpPr>
        <p:spPr>
          <a:xfrm>
            <a:off x="4114800" y="1737360"/>
            <a:ext cx="2286000" cy="365760"/>
          </a:xfrm>
          <a:prstGeom prst="rect">
            <a:avLst/>
          </a:prstGeom>
          <a:noFill/>
        </p:spPr>
        <p:txBody>
          <a:bodyPr wrap="square">
            <a:spAutoFit/>
          </a:bodyPr>
          <a:lstStyle/>
          <a:p>
            <a:pPr algn="l"/>
            <a:r>
              <a:rPr sz="1000" b="1">
                <a:solidFill>
                  <a:srgbClr val="00D4FF"/>
                </a:solidFill>
                <a:latin typeface="Calibri"/>
              </a:rPr>
              <a:t>Prix MC</a:t>
            </a:r>
          </a:p>
        </p:txBody>
      </p:sp>
      <p:sp>
        <p:nvSpPr>
          <p:cNvPr id="9" name="TextBox 8"/>
          <p:cNvSpPr txBox="1"/>
          <p:nvPr/>
        </p:nvSpPr>
        <p:spPr>
          <a:xfrm>
            <a:off x="6217920" y="1737360"/>
            <a:ext cx="2286000" cy="365760"/>
          </a:xfrm>
          <a:prstGeom prst="rect">
            <a:avLst/>
          </a:prstGeom>
          <a:noFill/>
        </p:spPr>
        <p:txBody>
          <a:bodyPr wrap="square">
            <a:spAutoFit/>
          </a:bodyPr>
          <a:lstStyle/>
          <a:p>
            <a:pPr algn="l"/>
            <a:r>
              <a:rPr sz="1000" b="1">
                <a:solidFill>
                  <a:srgbClr val="00D4FF"/>
                </a:solidFill>
                <a:latin typeface="Calibri"/>
              </a:rPr>
              <a:t>vs Vanille</a:t>
            </a:r>
          </a:p>
        </p:txBody>
      </p:sp>
      <p:sp>
        <p:nvSpPr>
          <p:cNvPr id="10" name="TextBox 9"/>
          <p:cNvSpPr txBox="1"/>
          <p:nvPr/>
        </p:nvSpPr>
        <p:spPr>
          <a:xfrm>
            <a:off x="8321040" y="1737360"/>
            <a:ext cx="2286000" cy="365760"/>
          </a:xfrm>
          <a:prstGeom prst="rect">
            <a:avLst/>
          </a:prstGeom>
          <a:noFill/>
        </p:spPr>
        <p:txBody>
          <a:bodyPr wrap="square">
            <a:spAutoFit/>
          </a:bodyPr>
          <a:lstStyle/>
          <a:p>
            <a:pPr algn="l"/>
            <a:r>
              <a:rPr sz="1000" b="1">
                <a:solidFill>
                  <a:srgbClr val="00D4FF"/>
                </a:solidFill>
                <a:latin typeface="Calibri"/>
              </a:rPr>
              <a:t>Réduction %</a:t>
            </a:r>
          </a:p>
        </p:txBody>
      </p:sp>
      <p:sp>
        <p:nvSpPr>
          <p:cNvPr id="11" name="TextBox 10"/>
          <p:cNvSpPr txBox="1"/>
          <p:nvPr/>
        </p:nvSpPr>
        <p:spPr>
          <a:xfrm>
            <a:off x="10058400" y="1737360"/>
            <a:ext cx="2286000" cy="365760"/>
          </a:xfrm>
          <a:prstGeom prst="rect">
            <a:avLst/>
          </a:prstGeom>
          <a:noFill/>
        </p:spPr>
        <p:txBody>
          <a:bodyPr wrap="square">
            <a:spAutoFit/>
          </a:bodyPr>
          <a:lstStyle/>
          <a:p>
            <a:pPr algn="l"/>
            <a:r>
              <a:rPr sz="1000" b="1">
                <a:solidFill>
                  <a:srgbClr val="00D4FF"/>
                </a:solidFill>
                <a:latin typeface="Calibri"/>
              </a:rPr>
              <a:t>Interprétation</a:t>
            </a:r>
          </a:p>
        </p:txBody>
      </p:sp>
      <p:sp>
        <p:nvSpPr>
          <p:cNvPr id="12" name="Rectangle 11"/>
          <p:cNvSpPr/>
          <p:nvPr/>
        </p:nvSpPr>
        <p:spPr>
          <a:xfrm>
            <a:off x="274320" y="2194560"/>
            <a:ext cx="11430000" cy="54864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2286000"/>
            <a:ext cx="2194560" cy="411480"/>
          </a:xfrm>
          <a:prstGeom prst="rect">
            <a:avLst/>
          </a:prstGeom>
          <a:noFill/>
        </p:spPr>
        <p:txBody>
          <a:bodyPr wrap="square">
            <a:spAutoFit/>
          </a:bodyPr>
          <a:lstStyle/>
          <a:p>
            <a:pPr algn="l"/>
            <a:r>
              <a:rPr sz="1000" b="0">
                <a:solidFill>
                  <a:srgbClr val="FFFFFF"/>
                </a:solidFill>
                <a:latin typeface="Calibri"/>
              </a:rPr>
              <a:t>Call Vanille (BS)</a:t>
            </a:r>
          </a:p>
        </p:txBody>
      </p:sp>
      <p:sp>
        <p:nvSpPr>
          <p:cNvPr id="14" name="TextBox 13"/>
          <p:cNvSpPr txBox="1"/>
          <p:nvPr/>
        </p:nvSpPr>
        <p:spPr>
          <a:xfrm>
            <a:off x="4114800" y="2286000"/>
            <a:ext cx="2194560" cy="411480"/>
          </a:xfrm>
          <a:prstGeom prst="rect">
            <a:avLst/>
          </a:prstGeom>
          <a:noFill/>
        </p:spPr>
        <p:txBody>
          <a:bodyPr wrap="square">
            <a:spAutoFit/>
          </a:bodyPr>
          <a:lstStyle/>
          <a:p>
            <a:pPr algn="l"/>
            <a:r>
              <a:rPr sz="1000" b="0">
                <a:solidFill>
                  <a:srgbClr val="FFFFFF"/>
                </a:solidFill>
                <a:latin typeface="Calibri"/>
              </a:rPr>
              <a:t>20.3186</a:t>
            </a:r>
          </a:p>
        </p:txBody>
      </p:sp>
      <p:sp>
        <p:nvSpPr>
          <p:cNvPr id="15" name="TextBox 14"/>
          <p:cNvSpPr txBox="1"/>
          <p:nvPr/>
        </p:nvSpPr>
        <p:spPr>
          <a:xfrm>
            <a:off x="6217920" y="2286000"/>
            <a:ext cx="2194560" cy="411480"/>
          </a:xfrm>
          <a:prstGeom prst="rect">
            <a:avLst/>
          </a:prstGeom>
          <a:noFill/>
        </p:spPr>
        <p:txBody>
          <a:bodyPr wrap="square">
            <a:spAutoFit/>
          </a:bodyPr>
          <a:lstStyle/>
          <a:p>
            <a:pPr algn="l"/>
            <a:r>
              <a:rPr sz="1000" b="0">
                <a:solidFill>
                  <a:srgbClr val="00FF88"/>
                </a:solidFill>
                <a:latin typeface="Calibri"/>
              </a:rPr>
              <a:t>+0.0000</a:t>
            </a:r>
          </a:p>
        </p:txBody>
      </p:sp>
      <p:sp>
        <p:nvSpPr>
          <p:cNvPr id="16" name="TextBox 15"/>
          <p:cNvSpPr txBox="1"/>
          <p:nvPr/>
        </p:nvSpPr>
        <p:spPr>
          <a:xfrm>
            <a:off x="8321040" y="2286000"/>
            <a:ext cx="2194560" cy="411480"/>
          </a:xfrm>
          <a:prstGeom prst="rect">
            <a:avLst/>
          </a:prstGeom>
          <a:noFill/>
        </p:spPr>
        <p:txBody>
          <a:bodyPr wrap="square">
            <a:spAutoFit/>
          </a:bodyPr>
          <a:lstStyle/>
          <a:p>
            <a:pPr algn="l"/>
            <a:r>
              <a:rPr sz="1000" b="0">
                <a:solidFill>
                  <a:srgbClr val="00FF88"/>
                </a:solidFill>
                <a:latin typeface="Calibri"/>
              </a:rPr>
              <a:t>—</a:t>
            </a:r>
          </a:p>
        </p:txBody>
      </p:sp>
      <p:sp>
        <p:nvSpPr>
          <p:cNvPr id="17" name="TextBox 16"/>
          <p:cNvSpPr txBox="1"/>
          <p:nvPr/>
        </p:nvSpPr>
        <p:spPr>
          <a:xfrm>
            <a:off x="10058400" y="2286000"/>
            <a:ext cx="2194560" cy="411480"/>
          </a:xfrm>
          <a:prstGeom prst="rect">
            <a:avLst/>
          </a:prstGeom>
          <a:noFill/>
        </p:spPr>
        <p:txBody>
          <a:bodyPr wrap="square">
            <a:spAutoFit/>
          </a:bodyPr>
          <a:lstStyle/>
          <a:p>
            <a:pPr algn="l"/>
            <a:r>
              <a:rPr sz="1000" b="0">
                <a:solidFill>
                  <a:srgbClr val="8B949E"/>
                </a:solidFill>
                <a:latin typeface="Calibri"/>
              </a:rPr>
              <a:t>Référence</a:t>
            </a:r>
          </a:p>
        </p:txBody>
      </p:sp>
      <p:sp>
        <p:nvSpPr>
          <p:cNvPr id="18" name="Rectangle 17"/>
          <p:cNvSpPr/>
          <p:nvPr/>
        </p:nvSpPr>
        <p:spPr>
          <a:xfrm>
            <a:off x="274320" y="2788920"/>
            <a:ext cx="11430000" cy="54864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2880360"/>
            <a:ext cx="2194560" cy="411480"/>
          </a:xfrm>
          <a:prstGeom prst="rect">
            <a:avLst/>
          </a:prstGeom>
          <a:noFill/>
        </p:spPr>
        <p:txBody>
          <a:bodyPr wrap="square">
            <a:spAutoFit/>
          </a:bodyPr>
          <a:lstStyle/>
          <a:p>
            <a:pPr algn="l"/>
            <a:r>
              <a:rPr sz="1000" b="0">
                <a:solidFill>
                  <a:srgbClr val="FFFFFF"/>
                </a:solidFill>
                <a:latin typeface="Calibri"/>
              </a:rPr>
              <a:t>Call Vanille (MC)</a:t>
            </a:r>
          </a:p>
        </p:txBody>
      </p:sp>
      <p:sp>
        <p:nvSpPr>
          <p:cNvPr id="20" name="TextBox 19"/>
          <p:cNvSpPr txBox="1"/>
          <p:nvPr/>
        </p:nvSpPr>
        <p:spPr>
          <a:xfrm>
            <a:off x="4114800" y="2880360"/>
            <a:ext cx="2194560" cy="411480"/>
          </a:xfrm>
          <a:prstGeom prst="rect">
            <a:avLst/>
          </a:prstGeom>
          <a:noFill/>
        </p:spPr>
        <p:txBody>
          <a:bodyPr wrap="square">
            <a:spAutoFit/>
          </a:bodyPr>
          <a:lstStyle/>
          <a:p>
            <a:pPr algn="l"/>
            <a:r>
              <a:rPr sz="1000" b="0">
                <a:solidFill>
                  <a:srgbClr val="FFFFFF"/>
                </a:solidFill>
                <a:latin typeface="Calibri"/>
              </a:rPr>
              <a:t>20.2397</a:t>
            </a:r>
          </a:p>
        </p:txBody>
      </p:sp>
      <p:sp>
        <p:nvSpPr>
          <p:cNvPr id="21" name="TextBox 20"/>
          <p:cNvSpPr txBox="1"/>
          <p:nvPr/>
        </p:nvSpPr>
        <p:spPr>
          <a:xfrm>
            <a:off x="6217920" y="2880360"/>
            <a:ext cx="2194560" cy="411480"/>
          </a:xfrm>
          <a:prstGeom prst="rect">
            <a:avLst/>
          </a:prstGeom>
          <a:noFill/>
        </p:spPr>
        <p:txBody>
          <a:bodyPr wrap="square">
            <a:spAutoFit/>
          </a:bodyPr>
          <a:lstStyle/>
          <a:p>
            <a:pPr algn="l"/>
            <a:r>
              <a:rPr sz="1000" b="0">
                <a:solidFill>
                  <a:srgbClr val="FF4444"/>
                </a:solidFill>
                <a:latin typeface="Calibri"/>
              </a:rPr>
              <a:t>-0.0789</a:t>
            </a:r>
          </a:p>
        </p:txBody>
      </p:sp>
      <p:sp>
        <p:nvSpPr>
          <p:cNvPr id="22" name="TextBox 21"/>
          <p:cNvSpPr txBox="1"/>
          <p:nvPr/>
        </p:nvSpPr>
        <p:spPr>
          <a:xfrm>
            <a:off x="8321040" y="2880360"/>
            <a:ext cx="2194560" cy="411480"/>
          </a:xfrm>
          <a:prstGeom prst="rect">
            <a:avLst/>
          </a:prstGeom>
          <a:noFill/>
        </p:spPr>
        <p:txBody>
          <a:bodyPr wrap="square">
            <a:spAutoFit/>
          </a:bodyPr>
          <a:lstStyle/>
          <a:p>
            <a:pPr algn="l"/>
            <a:r>
              <a:rPr sz="1000" b="0">
                <a:solidFill>
                  <a:srgbClr val="FF4444"/>
                </a:solidFill>
                <a:latin typeface="Calibri"/>
              </a:rPr>
              <a:t>+0.39%</a:t>
            </a:r>
          </a:p>
        </p:txBody>
      </p:sp>
      <p:sp>
        <p:nvSpPr>
          <p:cNvPr id="23" name="TextBox 22"/>
          <p:cNvSpPr txBox="1"/>
          <p:nvPr/>
        </p:nvSpPr>
        <p:spPr>
          <a:xfrm>
            <a:off x="10058400" y="2880360"/>
            <a:ext cx="2194560" cy="411480"/>
          </a:xfrm>
          <a:prstGeom prst="rect">
            <a:avLst/>
          </a:prstGeom>
          <a:noFill/>
        </p:spPr>
        <p:txBody>
          <a:bodyPr wrap="square">
            <a:spAutoFit/>
          </a:bodyPr>
          <a:lstStyle/>
          <a:p>
            <a:pPr algn="l"/>
            <a:r>
              <a:rPr sz="1000" b="0">
                <a:solidFill>
                  <a:srgbClr val="8B949E"/>
                </a:solidFill>
                <a:latin typeface="Calibri"/>
              </a:rPr>
              <a:t>Erreur vs BS: 0.39%</a:t>
            </a:r>
          </a:p>
        </p:txBody>
      </p:sp>
      <p:sp>
        <p:nvSpPr>
          <p:cNvPr id="24" name="Rectangle 23"/>
          <p:cNvSpPr/>
          <p:nvPr/>
        </p:nvSpPr>
        <p:spPr>
          <a:xfrm>
            <a:off x="274320" y="3383280"/>
            <a:ext cx="11430000" cy="54864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 y="3474720"/>
            <a:ext cx="2194560" cy="411480"/>
          </a:xfrm>
          <a:prstGeom prst="rect">
            <a:avLst/>
          </a:prstGeom>
          <a:noFill/>
        </p:spPr>
        <p:txBody>
          <a:bodyPr wrap="square">
            <a:spAutoFit/>
          </a:bodyPr>
          <a:lstStyle/>
          <a:p>
            <a:pPr algn="l"/>
            <a:r>
              <a:rPr sz="1000" b="0">
                <a:solidFill>
                  <a:srgbClr val="FFFFFF"/>
                </a:solidFill>
                <a:latin typeface="Calibri"/>
              </a:rPr>
              <a:t>Call Asiatique</a:t>
            </a:r>
          </a:p>
        </p:txBody>
      </p:sp>
      <p:sp>
        <p:nvSpPr>
          <p:cNvPr id="26" name="TextBox 25"/>
          <p:cNvSpPr txBox="1"/>
          <p:nvPr/>
        </p:nvSpPr>
        <p:spPr>
          <a:xfrm>
            <a:off x="4114800" y="3474720"/>
            <a:ext cx="2194560" cy="411480"/>
          </a:xfrm>
          <a:prstGeom prst="rect">
            <a:avLst/>
          </a:prstGeom>
          <a:noFill/>
        </p:spPr>
        <p:txBody>
          <a:bodyPr wrap="square">
            <a:spAutoFit/>
          </a:bodyPr>
          <a:lstStyle/>
          <a:p>
            <a:pPr algn="l"/>
            <a:r>
              <a:rPr sz="1000" b="0">
                <a:solidFill>
                  <a:srgbClr val="FFFFFF"/>
                </a:solidFill>
                <a:latin typeface="Calibri"/>
              </a:rPr>
              <a:t>11.7023</a:t>
            </a:r>
          </a:p>
        </p:txBody>
      </p:sp>
      <p:sp>
        <p:nvSpPr>
          <p:cNvPr id="27" name="TextBox 26"/>
          <p:cNvSpPr txBox="1"/>
          <p:nvPr/>
        </p:nvSpPr>
        <p:spPr>
          <a:xfrm>
            <a:off x="6217920" y="3474720"/>
            <a:ext cx="2194560" cy="411480"/>
          </a:xfrm>
          <a:prstGeom prst="rect">
            <a:avLst/>
          </a:prstGeom>
          <a:noFill/>
        </p:spPr>
        <p:txBody>
          <a:bodyPr wrap="square">
            <a:spAutoFit/>
          </a:bodyPr>
          <a:lstStyle/>
          <a:p>
            <a:pPr algn="l"/>
            <a:r>
              <a:rPr sz="1000" b="0">
                <a:solidFill>
                  <a:srgbClr val="FF4444"/>
                </a:solidFill>
                <a:latin typeface="Calibri"/>
              </a:rPr>
              <a:t>-8.6163</a:t>
            </a:r>
          </a:p>
        </p:txBody>
      </p:sp>
      <p:sp>
        <p:nvSpPr>
          <p:cNvPr id="28" name="TextBox 27"/>
          <p:cNvSpPr txBox="1"/>
          <p:nvPr/>
        </p:nvSpPr>
        <p:spPr>
          <a:xfrm>
            <a:off x="8321040" y="3474720"/>
            <a:ext cx="2194560" cy="411480"/>
          </a:xfrm>
          <a:prstGeom prst="rect">
            <a:avLst/>
          </a:prstGeom>
          <a:noFill/>
        </p:spPr>
        <p:txBody>
          <a:bodyPr wrap="square">
            <a:spAutoFit/>
          </a:bodyPr>
          <a:lstStyle/>
          <a:p>
            <a:pPr algn="l"/>
            <a:r>
              <a:rPr sz="1000" b="0">
                <a:solidFill>
                  <a:srgbClr val="FF4444"/>
                </a:solidFill>
                <a:latin typeface="Calibri"/>
              </a:rPr>
              <a:t>+42.41%</a:t>
            </a:r>
          </a:p>
        </p:txBody>
      </p:sp>
      <p:sp>
        <p:nvSpPr>
          <p:cNvPr id="29" name="TextBox 28"/>
          <p:cNvSpPr txBox="1"/>
          <p:nvPr/>
        </p:nvSpPr>
        <p:spPr>
          <a:xfrm>
            <a:off x="10058400" y="3474720"/>
            <a:ext cx="2194560" cy="411480"/>
          </a:xfrm>
          <a:prstGeom prst="rect">
            <a:avLst/>
          </a:prstGeom>
          <a:noFill/>
        </p:spPr>
        <p:txBody>
          <a:bodyPr wrap="square">
            <a:spAutoFit/>
          </a:bodyPr>
          <a:lstStyle/>
          <a:p>
            <a:pPr algn="l"/>
            <a:r>
              <a:rPr sz="1000" b="0">
                <a:solidFill>
                  <a:srgbClr val="8B949E"/>
                </a:solidFill>
                <a:latin typeface="Calibri"/>
              </a:rPr>
              <a:t>Moyenne lisse la vol</a:t>
            </a:r>
          </a:p>
        </p:txBody>
      </p:sp>
      <p:sp>
        <p:nvSpPr>
          <p:cNvPr id="30" name="Rectangle 29"/>
          <p:cNvSpPr/>
          <p:nvPr/>
        </p:nvSpPr>
        <p:spPr>
          <a:xfrm>
            <a:off x="274320" y="3977639"/>
            <a:ext cx="11430000" cy="54864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4320" y="4069079"/>
            <a:ext cx="2194560" cy="411480"/>
          </a:xfrm>
          <a:prstGeom prst="rect">
            <a:avLst/>
          </a:prstGeom>
          <a:noFill/>
        </p:spPr>
        <p:txBody>
          <a:bodyPr wrap="square">
            <a:spAutoFit/>
          </a:bodyPr>
          <a:lstStyle/>
          <a:p>
            <a:pPr algn="l"/>
            <a:r>
              <a:rPr sz="1000" b="0">
                <a:solidFill>
                  <a:srgbClr val="FFFFFF"/>
                </a:solidFill>
                <a:latin typeface="Calibri"/>
              </a:rPr>
              <a:t>Call Barrière KO</a:t>
            </a:r>
          </a:p>
        </p:txBody>
      </p:sp>
      <p:sp>
        <p:nvSpPr>
          <p:cNvPr id="32" name="TextBox 31"/>
          <p:cNvSpPr txBox="1"/>
          <p:nvPr/>
        </p:nvSpPr>
        <p:spPr>
          <a:xfrm>
            <a:off x="4114800" y="4069079"/>
            <a:ext cx="2194560" cy="411480"/>
          </a:xfrm>
          <a:prstGeom prst="rect">
            <a:avLst/>
          </a:prstGeom>
          <a:noFill/>
        </p:spPr>
        <p:txBody>
          <a:bodyPr wrap="square">
            <a:spAutoFit/>
          </a:bodyPr>
          <a:lstStyle/>
          <a:p>
            <a:pPr algn="l"/>
            <a:r>
              <a:rPr sz="1000" b="0">
                <a:solidFill>
                  <a:srgbClr val="FFFFFF"/>
                </a:solidFill>
                <a:latin typeface="Calibri"/>
              </a:rPr>
              <a:t>0.3241</a:t>
            </a:r>
          </a:p>
        </p:txBody>
      </p:sp>
      <p:sp>
        <p:nvSpPr>
          <p:cNvPr id="33" name="TextBox 32"/>
          <p:cNvSpPr txBox="1"/>
          <p:nvPr/>
        </p:nvSpPr>
        <p:spPr>
          <a:xfrm>
            <a:off x="6217920" y="4069079"/>
            <a:ext cx="2194560" cy="411480"/>
          </a:xfrm>
          <a:prstGeom prst="rect">
            <a:avLst/>
          </a:prstGeom>
          <a:noFill/>
        </p:spPr>
        <p:txBody>
          <a:bodyPr wrap="square">
            <a:spAutoFit/>
          </a:bodyPr>
          <a:lstStyle/>
          <a:p>
            <a:pPr algn="l"/>
            <a:r>
              <a:rPr sz="1000" b="0">
                <a:solidFill>
                  <a:srgbClr val="FF4444"/>
                </a:solidFill>
                <a:latin typeface="Calibri"/>
              </a:rPr>
              <a:t>-19.9945</a:t>
            </a:r>
          </a:p>
        </p:txBody>
      </p:sp>
      <p:sp>
        <p:nvSpPr>
          <p:cNvPr id="34" name="TextBox 33"/>
          <p:cNvSpPr txBox="1"/>
          <p:nvPr/>
        </p:nvSpPr>
        <p:spPr>
          <a:xfrm>
            <a:off x="8321040" y="4069079"/>
            <a:ext cx="2194560" cy="411480"/>
          </a:xfrm>
          <a:prstGeom prst="rect">
            <a:avLst/>
          </a:prstGeom>
          <a:noFill/>
        </p:spPr>
        <p:txBody>
          <a:bodyPr wrap="square">
            <a:spAutoFit/>
          </a:bodyPr>
          <a:lstStyle/>
          <a:p>
            <a:pPr algn="l"/>
            <a:r>
              <a:rPr sz="1000" b="0">
                <a:solidFill>
                  <a:srgbClr val="FF4444"/>
                </a:solidFill>
                <a:latin typeface="Calibri"/>
              </a:rPr>
              <a:t>-98.41%</a:t>
            </a:r>
          </a:p>
        </p:txBody>
      </p:sp>
      <p:sp>
        <p:nvSpPr>
          <p:cNvPr id="35" name="TextBox 34"/>
          <p:cNvSpPr txBox="1"/>
          <p:nvPr/>
        </p:nvSpPr>
        <p:spPr>
          <a:xfrm>
            <a:off x="10058400" y="4069079"/>
            <a:ext cx="2194560" cy="411480"/>
          </a:xfrm>
          <a:prstGeom prst="rect">
            <a:avLst/>
          </a:prstGeom>
          <a:noFill/>
        </p:spPr>
        <p:txBody>
          <a:bodyPr wrap="square">
            <a:spAutoFit/>
          </a:bodyPr>
          <a:lstStyle/>
          <a:p>
            <a:pPr algn="l"/>
            <a:r>
              <a:rPr sz="1000" b="0">
                <a:solidFill>
                  <a:srgbClr val="8B949E"/>
                </a:solidFill>
                <a:latin typeface="Calibri"/>
              </a:rPr>
              <a:t>KO: 58.2% paths</a:t>
            </a:r>
          </a:p>
        </p:txBody>
      </p:sp>
      <p:sp>
        <p:nvSpPr>
          <p:cNvPr id="36" name="Rectangle 35"/>
          <p:cNvSpPr/>
          <p:nvPr/>
        </p:nvSpPr>
        <p:spPr>
          <a:xfrm>
            <a:off x="274320" y="4572000"/>
            <a:ext cx="11430000" cy="54864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4320" y="4663440"/>
            <a:ext cx="2194560" cy="411480"/>
          </a:xfrm>
          <a:prstGeom prst="rect">
            <a:avLst/>
          </a:prstGeom>
          <a:noFill/>
        </p:spPr>
        <p:txBody>
          <a:bodyPr wrap="square">
            <a:spAutoFit/>
          </a:bodyPr>
          <a:lstStyle/>
          <a:p>
            <a:pPr algn="l"/>
            <a:r>
              <a:rPr sz="1000" b="0">
                <a:solidFill>
                  <a:srgbClr val="FFFFFF"/>
                </a:solidFill>
                <a:latin typeface="Calibri"/>
              </a:rPr>
              <a:t>Call Lookback</a:t>
            </a:r>
          </a:p>
        </p:txBody>
      </p:sp>
      <p:sp>
        <p:nvSpPr>
          <p:cNvPr id="38" name="TextBox 37"/>
          <p:cNvSpPr txBox="1"/>
          <p:nvPr/>
        </p:nvSpPr>
        <p:spPr>
          <a:xfrm>
            <a:off x="4114800" y="4663440"/>
            <a:ext cx="2194560" cy="411480"/>
          </a:xfrm>
          <a:prstGeom prst="rect">
            <a:avLst/>
          </a:prstGeom>
          <a:noFill/>
        </p:spPr>
        <p:txBody>
          <a:bodyPr wrap="square">
            <a:spAutoFit/>
          </a:bodyPr>
          <a:lstStyle/>
          <a:p>
            <a:pPr algn="l"/>
            <a:r>
              <a:rPr sz="1000" b="0">
                <a:solidFill>
                  <a:srgbClr val="FFFFFF"/>
                </a:solidFill>
                <a:latin typeface="Calibri"/>
              </a:rPr>
              <a:t>41.9332</a:t>
            </a:r>
          </a:p>
        </p:txBody>
      </p:sp>
      <p:sp>
        <p:nvSpPr>
          <p:cNvPr id="39" name="TextBox 38"/>
          <p:cNvSpPr txBox="1"/>
          <p:nvPr/>
        </p:nvSpPr>
        <p:spPr>
          <a:xfrm>
            <a:off x="6217920" y="4663440"/>
            <a:ext cx="2194560" cy="411480"/>
          </a:xfrm>
          <a:prstGeom prst="rect">
            <a:avLst/>
          </a:prstGeom>
          <a:noFill/>
        </p:spPr>
        <p:txBody>
          <a:bodyPr wrap="square">
            <a:spAutoFit/>
          </a:bodyPr>
          <a:lstStyle/>
          <a:p>
            <a:pPr algn="l"/>
            <a:r>
              <a:rPr sz="1000" b="0">
                <a:solidFill>
                  <a:srgbClr val="00FF88"/>
                </a:solidFill>
                <a:latin typeface="Calibri"/>
              </a:rPr>
              <a:t>+21.6146</a:t>
            </a:r>
          </a:p>
        </p:txBody>
      </p:sp>
      <p:sp>
        <p:nvSpPr>
          <p:cNvPr id="40" name="TextBox 39"/>
          <p:cNvSpPr txBox="1"/>
          <p:nvPr/>
        </p:nvSpPr>
        <p:spPr>
          <a:xfrm>
            <a:off x="8321040" y="4663440"/>
            <a:ext cx="2194560" cy="411480"/>
          </a:xfrm>
          <a:prstGeom prst="rect">
            <a:avLst/>
          </a:prstGeom>
          <a:noFill/>
        </p:spPr>
        <p:txBody>
          <a:bodyPr wrap="square">
            <a:spAutoFit/>
          </a:bodyPr>
          <a:lstStyle/>
          <a:p>
            <a:pPr algn="l"/>
            <a:r>
              <a:rPr sz="1000" b="0">
                <a:solidFill>
                  <a:srgbClr val="00FF88"/>
                </a:solidFill>
                <a:latin typeface="Calibri"/>
              </a:rPr>
              <a:t>+106.38%</a:t>
            </a:r>
          </a:p>
        </p:txBody>
      </p:sp>
      <p:sp>
        <p:nvSpPr>
          <p:cNvPr id="41" name="TextBox 40"/>
          <p:cNvSpPr txBox="1"/>
          <p:nvPr/>
        </p:nvSpPr>
        <p:spPr>
          <a:xfrm>
            <a:off x="10058400" y="4663440"/>
            <a:ext cx="2194560" cy="411480"/>
          </a:xfrm>
          <a:prstGeom prst="rect">
            <a:avLst/>
          </a:prstGeom>
          <a:noFill/>
        </p:spPr>
        <p:txBody>
          <a:bodyPr wrap="square">
            <a:spAutoFit/>
          </a:bodyPr>
          <a:lstStyle/>
          <a:p>
            <a:pPr algn="l"/>
            <a:r>
              <a:rPr sz="1000" b="0">
                <a:solidFill>
                  <a:srgbClr val="8B949E"/>
                </a:solidFill>
                <a:latin typeface="Calibri"/>
              </a:rPr>
              <a:t>Prix max garanti</a:t>
            </a:r>
          </a:p>
        </p:txBody>
      </p:sp>
      <p:sp>
        <p:nvSpPr>
          <p:cNvPr id="42" name="Rectangle 41"/>
          <p:cNvSpPr/>
          <p:nvPr/>
        </p:nvSpPr>
        <p:spPr>
          <a:xfrm>
            <a:off x="274320" y="5166360"/>
            <a:ext cx="11430000" cy="54864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74320" y="5257800"/>
            <a:ext cx="2194560" cy="411480"/>
          </a:xfrm>
          <a:prstGeom prst="rect">
            <a:avLst/>
          </a:prstGeom>
          <a:noFill/>
        </p:spPr>
        <p:txBody>
          <a:bodyPr wrap="square">
            <a:spAutoFit/>
          </a:bodyPr>
          <a:lstStyle/>
          <a:p>
            <a:pPr algn="l"/>
            <a:r>
              <a:rPr sz="1000" b="0">
                <a:solidFill>
                  <a:srgbClr val="FFFFFF"/>
                </a:solidFill>
                <a:latin typeface="Calibri"/>
              </a:rPr>
              <a:t>Digital Call</a:t>
            </a:r>
          </a:p>
        </p:txBody>
      </p:sp>
      <p:sp>
        <p:nvSpPr>
          <p:cNvPr id="44" name="TextBox 43"/>
          <p:cNvSpPr txBox="1"/>
          <p:nvPr/>
        </p:nvSpPr>
        <p:spPr>
          <a:xfrm>
            <a:off x="4114800" y="5257800"/>
            <a:ext cx="2194560" cy="411480"/>
          </a:xfrm>
          <a:prstGeom prst="rect">
            <a:avLst/>
          </a:prstGeom>
          <a:noFill/>
        </p:spPr>
        <p:txBody>
          <a:bodyPr wrap="square">
            <a:spAutoFit/>
          </a:bodyPr>
          <a:lstStyle/>
          <a:p>
            <a:pPr algn="l"/>
            <a:r>
              <a:rPr sz="1000" b="0">
                <a:solidFill>
                  <a:srgbClr val="FFFFFF"/>
                </a:solidFill>
                <a:latin typeface="Calibri"/>
              </a:rPr>
              <a:t>0.4416</a:t>
            </a:r>
          </a:p>
        </p:txBody>
      </p:sp>
      <p:sp>
        <p:nvSpPr>
          <p:cNvPr id="45" name="TextBox 44"/>
          <p:cNvSpPr txBox="1"/>
          <p:nvPr/>
        </p:nvSpPr>
        <p:spPr>
          <a:xfrm>
            <a:off x="6217920" y="5257800"/>
            <a:ext cx="2194560" cy="411480"/>
          </a:xfrm>
          <a:prstGeom prst="rect">
            <a:avLst/>
          </a:prstGeom>
          <a:noFill/>
        </p:spPr>
        <p:txBody>
          <a:bodyPr wrap="square">
            <a:spAutoFit/>
          </a:bodyPr>
          <a:lstStyle/>
          <a:p>
            <a:pPr algn="l"/>
            <a:r>
              <a:rPr sz="1000" b="0">
                <a:solidFill>
                  <a:srgbClr val="FF4444"/>
                </a:solidFill>
                <a:latin typeface="Calibri"/>
              </a:rPr>
              <a:t>-19.8770</a:t>
            </a:r>
          </a:p>
        </p:txBody>
      </p:sp>
      <p:sp>
        <p:nvSpPr>
          <p:cNvPr id="46" name="TextBox 45"/>
          <p:cNvSpPr txBox="1"/>
          <p:nvPr/>
        </p:nvSpPr>
        <p:spPr>
          <a:xfrm>
            <a:off x="8321040" y="5257800"/>
            <a:ext cx="2194560" cy="411480"/>
          </a:xfrm>
          <a:prstGeom prst="rect">
            <a:avLst/>
          </a:prstGeom>
          <a:noFill/>
        </p:spPr>
        <p:txBody>
          <a:bodyPr wrap="square">
            <a:spAutoFit/>
          </a:bodyPr>
          <a:lstStyle/>
          <a:p>
            <a:pPr algn="l"/>
            <a:r>
              <a:rPr sz="1000" b="0">
                <a:solidFill>
                  <a:srgbClr val="FF4444"/>
                </a:solidFill>
                <a:latin typeface="Calibri"/>
              </a:rPr>
              <a:t>—</a:t>
            </a:r>
          </a:p>
        </p:txBody>
      </p:sp>
      <p:sp>
        <p:nvSpPr>
          <p:cNvPr id="47" name="TextBox 46"/>
          <p:cNvSpPr txBox="1"/>
          <p:nvPr/>
        </p:nvSpPr>
        <p:spPr>
          <a:xfrm>
            <a:off x="10058400" y="5257800"/>
            <a:ext cx="2194560" cy="411480"/>
          </a:xfrm>
          <a:prstGeom prst="rect">
            <a:avLst/>
          </a:prstGeom>
          <a:noFill/>
        </p:spPr>
        <p:txBody>
          <a:bodyPr wrap="square">
            <a:spAutoFit/>
          </a:bodyPr>
          <a:lstStyle/>
          <a:p>
            <a:pPr algn="l"/>
            <a:r>
              <a:rPr sz="1000" b="0">
                <a:solidFill>
                  <a:srgbClr val="8B949E"/>
                </a:solidFill>
                <a:latin typeface="Calibri"/>
              </a:rPr>
              <a:t>Prob ITM: 44.4%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548640"/>
          </a:xfrm>
          <a:prstGeom prst="rect">
            <a:avLst/>
          </a:prstGeom>
          <a:noFill/>
        </p:spPr>
        <p:txBody>
          <a:bodyPr wrap="square">
            <a:spAutoFit/>
          </a:bodyPr>
          <a:lstStyle/>
          <a:p>
            <a:pPr algn="l"/>
            <a:r>
              <a:rPr sz="1600" b="1">
                <a:solidFill>
                  <a:srgbClr val="00D4FF"/>
                </a:solidFill>
                <a:latin typeface="Calibri"/>
              </a:rPr>
              <a:t>MODÈLE DE HESTON — VOLATILITÉ STOCHASTIQUE — ORCL</a:t>
            </a:r>
          </a:p>
        </p:txBody>
      </p:sp>
      <p:sp>
        <p:nvSpPr>
          <p:cNvPr id="4" name="Rectangle 3"/>
          <p:cNvSpPr/>
          <p:nvPr/>
        </p:nvSpPr>
        <p:spPr>
          <a:xfrm>
            <a:off x="274320" y="731520"/>
            <a:ext cx="11064240" cy="1905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914400"/>
            <a:ext cx="1783080" cy="118872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005840"/>
            <a:ext cx="1783080" cy="548640"/>
          </a:xfrm>
          <a:prstGeom prst="rect">
            <a:avLst/>
          </a:prstGeom>
          <a:noFill/>
        </p:spPr>
        <p:txBody>
          <a:bodyPr wrap="square">
            <a:spAutoFit/>
          </a:bodyPr>
          <a:lstStyle/>
          <a:p>
            <a:pPr algn="ctr"/>
            <a:r>
              <a:rPr sz="1800" b="1">
                <a:solidFill>
                  <a:srgbClr val="00D4FF"/>
                </a:solidFill>
                <a:latin typeface="Calibri"/>
              </a:rPr>
              <a:t>2.0000</a:t>
            </a:r>
          </a:p>
        </p:txBody>
      </p:sp>
      <p:sp>
        <p:nvSpPr>
          <p:cNvPr id="7" name="TextBox 6"/>
          <p:cNvSpPr txBox="1"/>
          <p:nvPr/>
        </p:nvSpPr>
        <p:spPr>
          <a:xfrm>
            <a:off x="274320" y="1508760"/>
            <a:ext cx="1783080" cy="411480"/>
          </a:xfrm>
          <a:prstGeom prst="rect">
            <a:avLst/>
          </a:prstGeom>
          <a:noFill/>
        </p:spPr>
        <p:txBody>
          <a:bodyPr wrap="square">
            <a:spAutoFit/>
          </a:bodyPr>
          <a:lstStyle/>
          <a:p>
            <a:pPr algn="ctr"/>
            <a:r>
              <a:rPr sz="900" b="0">
                <a:solidFill>
                  <a:srgbClr val="8B949E"/>
                </a:solidFill>
                <a:latin typeface="Calibri"/>
              </a:rPr>
              <a:t>κ Vitesse retour</a:t>
            </a:r>
          </a:p>
        </p:txBody>
      </p:sp>
      <p:sp>
        <p:nvSpPr>
          <p:cNvPr id="8" name="Rectangle 7"/>
          <p:cNvSpPr/>
          <p:nvPr/>
        </p:nvSpPr>
        <p:spPr>
          <a:xfrm>
            <a:off x="2148839" y="914400"/>
            <a:ext cx="1783080" cy="118872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48839" y="1005840"/>
            <a:ext cx="1783080" cy="548640"/>
          </a:xfrm>
          <a:prstGeom prst="rect">
            <a:avLst/>
          </a:prstGeom>
          <a:noFill/>
        </p:spPr>
        <p:txBody>
          <a:bodyPr wrap="square">
            <a:spAutoFit/>
          </a:bodyPr>
          <a:lstStyle/>
          <a:p>
            <a:pPr algn="ctr"/>
            <a:r>
              <a:rPr sz="1800" b="1">
                <a:solidFill>
                  <a:srgbClr val="00FF88"/>
                </a:solidFill>
                <a:latin typeface="Calibri"/>
              </a:rPr>
              <a:t>0.3798</a:t>
            </a:r>
          </a:p>
        </p:txBody>
      </p:sp>
      <p:sp>
        <p:nvSpPr>
          <p:cNvPr id="10" name="TextBox 9"/>
          <p:cNvSpPr txBox="1"/>
          <p:nvPr/>
        </p:nvSpPr>
        <p:spPr>
          <a:xfrm>
            <a:off x="2148839" y="1508760"/>
            <a:ext cx="1783080" cy="411480"/>
          </a:xfrm>
          <a:prstGeom prst="rect">
            <a:avLst/>
          </a:prstGeom>
          <a:noFill/>
        </p:spPr>
        <p:txBody>
          <a:bodyPr wrap="square">
            <a:spAutoFit/>
          </a:bodyPr>
          <a:lstStyle/>
          <a:p>
            <a:pPr algn="ctr"/>
            <a:r>
              <a:rPr sz="900" b="0">
                <a:solidFill>
                  <a:srgbClr val="8B949E"/>
                </a:solidFill>
                <a:latin typeface="Calibri"/>
              </a:rPr>
              <a:t>θ Var. long terme</a:t>
            </a:r>
          </a:p>
        </p:txBody>
      </p:sp>
      <p:sp>
        <p:nvSpPr>
          <p:cNvPr id="11" name="Rectangle 10"/>
          <p:cNvSpPr/>
          <p:nvPr/>
        </p:nvSpPr>
        <p:spPr>
          <a:xfrm>
            <a:off x="4023359" y="914400"/>
            <a:ext cx="1783080" cy="118872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23359" y="1005840"/>
            <a:ext cx="1783080" cy="548640"/>
          </a:xfrm>
          <a:prstGeom prst="rect">
            <a:avLst/>
          </a:prstGeom>
          <a:noFill/>
        </p:spPr>
        <p:txBody>
          <a:bodyPr wrap="square">
            <a:spAutoFit/>
          </a:bodyPr>
          <a:lstStyle/>
          <a:p>
            <a:pPr algn="ctr"/>
            <a:r>
              <a:rPr sz="1800" b="1">
                <a:solidFill>
                  <a:srgbClr val="FFD700"/>
                </a:solidFill>
                <a:latin typeface="Calibri"/>
              </a:rPr>
              <a:t>0.3082</a:t>
            </a:r>
          </a:p>
        </p:txBody>
      </p:sp>
      <p:sp>
        <p:nvSpPr>
          <p:cNvPr id="13" name="TextBox 12"/>
          <p:cNvSpPr txBox="1"/>
          <p:nvPr/>
        </p:nvSpPr>
        <p:spPr>
          <a:xfrm>
            <a:off x="4023359" y="1508760"/>
            <a:ext cx="1783080" cy="411480"/>
          </a:xfrm>
          <a:prstGeom prst="rect">
            <a:avLst/>
          </a:prstGeom>
          <a:noFill/>
        </p:spPr>
        <p:txBody>
          <a:bodyPr wrap="square">
            <a:spAutoFit/>
          </a:bodyPr>
          <a:lstStyle/>
          <a:p>
            <a:pPr algn="ctr"/>
            <a:r>
              <a:rPr sz="900" b="0">
                <a:solidFill>
                  <a:srgbClr val="8B949E"/>
                </a:solidFill>
                <a:latin typeface="Calibri"/>
              </a:rPr>
              <a:t>ξ Vol de Vol</a:t>
            </a:r>
          </a:p>
        </p:txBody>
      </p:sp>
      <p:sp>
        <p:nvSpPr>
          <p:cNvPr id="14" name="Rectangle 13"/>
          <p:cNvSpPr/>
          <p:nvPr/>
        </p:nvSpPr>
        <p:spPr>
          <a:xfrm>
            <a:off x="5897879" y="914400"/>
            <a:ext cx="1783080" cy="118872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97879" y="1005840"/>
            <a:ext cx="1783080" cy="548640"/>
          </a:xfrm>
          <a:prstGeom prst="rect">
            <a:avLst/>
          </a:prstGeom>
          <a:noFill/>
        </p:spPr>
        <p:txBody>
          <a:bodyPr wrap="square">
            <a:spAutoFit/>
          </a:bodyPr>
          <a:lstStyle/>
          <a:p>
            <a:pPr algn="ctr"/>
            <a:r>
              <a:rPr sz="1800" b="1">
                <a:solidFill>
                  <a:srgbClr val="9B59B6"/>
                </a:solidFill>
                <a:latin typeface="Calibri"/>
              </a:rPr>
              <a:t>-0.4085</a:t>
            </a:r>
          </a:p>
        </p:txBody>
      </p:sp>
      <p:sp>
        <p:nvSpPr>
          <p:cNvPr id="16" name="TextBox 15"/>
          <p:cNvSpPr txBox="1"/>
          <p:nvPr/>
        </p:nvSpPr>
        <p:spPr>
          <a:xfrm>
            <a:off x="5897879" y="1508760"/>
            <a:ext cx="1783080" cy="411480"/>
          </a:xfrm>
          <a:prstGeom prst="rect">
            <a:avLst/>
          </a:prstGeom>
          <a:noFill/>
        </p:spPr>
        <p:txBody>
          <a:bodyPr wrap="square">
            <a:spAutoFit/>
          </a:bodyPr>
          <a:lstStyle/>
          <a:p>
            <a:pPr algn="ctr"/>
            <a:r>
              <a:rPr sz="900" b="0">
                <a:solidFill>
                  <a:srgbClr val="8B949E"/>
                </a:solidFill>
                <a:latin typeface="Calibri"/>
              </a:rPr>
              <a:t>ρ Corrélation</a:t>
            </a:r>
          </a:p>
        </p:txBody>
      </p:sp>
      <p:sp>
        <p:nvSpPr>
          <p:cNvPr id="17" name="Rectangle 16"/>
          <p:cNvSpPr/>
          <p:nvPr/>
        </p:nvSpPr>
        <p:spPr>
          <a:xfrm>
            <a:off x="7772400" y="914400"/>
            <a:ext cx="1783080" cy="118872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1005840"/>
            <a:ext cx="1783080" cy="548640"/>
          </a:xfrm>
          <a:prstGeom prst="rect">
            <a:avLst/>
          </a:prstGeom>
          <a:noFill/>
        </p:spPr>
        <p:txBody>
          <a:bodyPr wrap="square">
            <a:spAutoFit/>
          </a:bodyPr>
          <a:lstStyle/>
          <a:p>
            <a:pPr algn="ctr"/>
            <a:r>
              <a:rPr sz="1800" b="1">
                <a:solidFill>
                  <a:srgbClr val="FF6B35"/>
                </a:solidFill>
                <a:latin typeface="Calibri"/>
              </a:rPr>
              <a:t>0.3798</a:t>
            </a:r>
          </a:p>
        </p:txBody>
      </p:sp>
      <p:sp>
        <p:nvSpPr>
          <p:cNvPr id="19" name="TextBox 18"/>
          <p:cNvSpPr txBox="1"/>
          <p:nvPr/>
        </p:nvSpPr>
        <p:spPr>
          <a:xfrm>
            <a:off x="7772400" y="1508760"/>
            <a:ext cx="1783080" cy="411480"/>
          </a:xfrm>
          <a:prstGeom prst="rect">
            <a:avLst/>
          </a:prstGeom>
          <a:noFill/>
        </p:spPr>
        <p:txBody>
          <a:bodyPr wrap="square">
            <a:spAutoFit/>
          </a:bodyPr>
          <a:lstStyle/>
          <a:p>
            <a:pPr algn="ctr"/>
            <a:r>
              <a:rPr sz="900" b="0">
                <a:solidFill>
                  <a:srgbClr val="8B949E"/>
                </a:solidFill>
                <a:latin typeface="Calibri"/>
              </a:rPr>
              <a:t>v₀ Var. initiale</a:t>
            </a:r>
          </a:p>
        </p:txBody>
      </p:sp>
      <p:sp>
        <p:nvSpPr>
          <p:cNvPr id="20" name="Rectangle 19"/>
          <p:cNvSpPr/>
          <p:nvPr/>
        </p:nvSpPr>
        <p:spPr>
          <a:xfrm>
            <a:off x="9646920" y="914400"/>
            <a:ext cx="1783080" cy="118872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46920" y="1005840"/>
            <a:ext cx="1783080" cy="548640"/>
          </a:xfrm>
          <a:prstGeom prst="rect">
            <a:avLst/>
          </a:prstGeom>
          <a:noFill/>
        </p:spPr>
        <p:txBody>
          <a:bodyPr wrap="square">
            <a:spAutoFit/>
          </a:bodyPr>
          <a:lstStyle/>
          <a:p>
            <a:pPr algn="ctr"/>
            <a:r>
              <a:rPr sz="1800" b="1">
                <a:solidFill>
                  <a:srgbClr val="00FF88"/>
                </a:solidFill>
                <a:latin typeface="Calibri"/>
              </a:rPr>
              <a:t>✓</a:t>
            </a:r>
          </a:p>
        </p:txBody>
      </p:sp>
      <p:sp>
        <p:nvSpPr>
          <p:cNvPr id="22" name="TextBox 21"/>
          <p:cNvSpPr txBox="1"/>
          <p:nvPr/>
        </p:nvSpPr>
        <p:spPr>
          <a:xfrm>
            <a:off x="9646920" y="1508760"/>
            <a:ext cx="1783080" cy="411480"/>
          </a:xfrm>
          <a:prstGeom prst="rect">
            <a:avLst/>
          </a:prstGeom>
          <a:noFill/>
        </p:spPr>
        <p:txBody>
          <a:bodyPr wrap="square">
            <a:spAutoFit/>
          </a:bodyPr>
          <a:lstStyle/>
          <a:p>
            <a:pPr algn="ctr"/>
            <a:r>
              <a:rPr sz="900" b="0">
                <a:solidFill>
                  <a:srgbClr val="8B949E"/>
                </a:solidFill>
                <a:latin typeface="Calibri"/>
              </a:rPr>
              <a:t>Feller</a:t>
            </a:r>
          </a:p>
        </p:txBody>
      </p:sp>
      <p:sp>
        <p:nvSpPr>
          <p:cNvPr id="23" name="TextBox 22"/>
          <p:cNvSpPr txBox="1"/>
          <p:nvPr/>
        </p:nvSpPr>
        <p:spPr>
          <a:xfrm>
            <a:off x="274320" y="2286000"/>
            <a:ext cx="11064240" cy="365760"/>
          </a:xfrm>
          <a:prstGeom prst="rect">
            <a:avLst/>
          </a:prstGeom>
          <a:noFill/>
        </p:spPr>
        <p:txBody>
          <a:bodyPr wrap="square">
            <a:spAutoFit/>
          </a:bodyPr>
          <a:lstStyle/>
          <a:p>
            <a:pPr algn="l"/>
            <a:r>
              <a:rPr sz="1100" b="1">
                <a:solidFill>
                  <a:srgbClr val="00D4FF"/>
                </a:solidFill>
                <a:latin typeface="Calibri"/>
              </a:rPr>
              <a:t>COMPARAISON PRICING ATM (3 MOIS)</a:t>
            </a:r>
          </a:p>
        </p:txBody>
      </p:sp>
      <p:sp>
        <p:nvSpPr>
          <p:cNvPr id="24" name="Rectangle 23"/>
          <p:cNvSpPr/>
          <p:nvPr/>
        </p:nvSpPr>
        <p:spPr>
          <a:xfrm>
            <a:off x="274320" y="2697480"/>
            <a:ext cx="5303520" cy="137160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2788920"/>
            <a:ext cx="4937760" cy="365760"/>
          </a:xfrm>
          <a:prstGeom prst="rect">
            <a:avLst/>
          </a:prstGeom>
          <a:noFill/>
        </p:spPr>
        <p:txBody>
          <a:bodyPr wrap="square">
            <a:spAutoFit/>
          </a:bodyPr>
          <a:lstStyle/>
          <a:p>
            <a:pPr algn="ctr"/>
            <a:r>
              <a:rPr sz="1100" b="1">
                <a:solidFill>
                  <a:srgbClr val="00D4FF"/>
                </a:solidFill>
                <a:latin typeface="Calibri"/>
              </a:rPr>
              <a:t>BLACK-SCHOLES</a:t>
            </a:r>
          </a:p>
        </p:txBody>
      </p:sp>
      <p:sp>
        <p:nvSpPr>
          <p:cNvPr id="26" name="TextBox 25"/>
          <p:cNvSpPr txBox="1"/>
          <p:nvPr/>
        </p:nvSpPr>
        <p:spPr>
          <a:xfrm>
            <a:off x="457200" y="3154680"/>
            <a:ext cx="4937760" cy="548640"/>
          </a:xfrm>
          <a:prstGeom prst="rect">
            <a:avLst/>
          </a:prstGeom>
          <a:noFill/>
        </p:spPr>
        <p:txBody>
          <a:bodyPr wrap="square">
            <a:spAutoFit/>
          </a:bodyPr>
          <a:lstStyle/>
          <a:p>
            <a:pPr algn="ctr"/>
            <a:r>
              <a:rPr sz="2400" b="1">
                <a:solidFill>
                  <a:srgbClr val="FFFFFF"/>
                </a:solidFill>
                <a:latin typeface="Calibri"/>
              </a:rPr>
              <a:t>20.3186</a:t>
            </a:r>
          </a:p>
        </p:txBody>
      </p:sp>
      <p:sp>
        <p:nvSpPr>
          <p:cNvPr id="27" name="TextBox 26"/>
          <p:cNvSpPr txBox="1"/>
          <p:nvPr/>
        </p:nvSpPr>
        <p:spPr>
          <a:xfrm>
            <a:off x="457200" y="3611880"/>
            <a:ext cx="4937760" cy="365760"/>
          </a:xfrm>
          <a:prstGeom prst="rect">
            <a:avLst/>
          </a:prstGeom>
          <a:noFill/>
        </p:spPr>
        <p:txBody>
          <a:bodyPr wrap="square">
            <a:spAutoFit/>
          </a:bodyPr>
          <a:lstStyle/>
          <a:p>
            <a:pPr algn="ctr"/>
            <a:r>
              <a:rPr sz="1000" b="0">
                <a:solidFill>
                  <a:srgbClr val="8B949E"/>
                </a:solidFill>
                <a:latin typeface="Calibri"/>
              </a:rPr>
              <a:t>Vol constante : 61.6%</a:t>
            </a:r>
          </a:p>
        </p:txBody>
      </p:sp>
      <p:sp>
        <p:nvSpPr>
          <p:cNvPr id="28" name="Rectangle 27"/>
          <p:cNvSpPr/>
          <p:nvPr/>
        </p:nvSpPr>
        <p:spPr>
          <a:xfrm>
            <a:off x="6035040" y="2697480"/>
            <a:ext cx="5303520" cy="137160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0" y="2788920"/>
            <a:ext cx="4937760" cy="365760"/>
          </a:xfrm>
          <a:prstGeom prst="rect">
            <a:avLst/>
          </a:prstGeom>
          <a:noFill/>
        </p:spPr>
        <p:txBody>
          <a:bodyPr wrap="square">
            <a:spAutoFit/>
          </a:bodyPr>
          <a:lstStyle/>
          <a:p>
            <a:pPr algn="ctr"/>
            <a:r>
              <a:rPr sz="1100" b="1">
                <a:solidFill>
                  <a:srgbClr val="00FF88"/>
                </a:solidFill>
                <a:latin typeface="Calibri"/>
              </a:rPr>
              <a:t>HESTON</a:t>
            </a:r>
          </a:p>
        </p:txBody>
      </p:sp>
      <p:sp>
        <p:nvSpPr>
          <p:cNvPr id="30" name="TextBox 29"/>
          <p:cNvSpPr txBox="1"/>
          <p:nvPr/>
        </p:nvSpPr>
        <p:spPr>
          <a:xfrm>
            <a:off x="6217920" y="3154680"/>
            <a:ext cx="4937760" cy="548640"/>
          </a:xfrm>
          <a:prstGeom prst="rect">
            <a:avLst/>
          </a:prstGeom>
          <a:noFill/>
        </p:spPr>
        <p:txBody>
          <a:bodyPr wrap="square">
            <a:spAutoFit/>
          </a:bodyPr>
          <a:lstStyle/>
          <a:p>
            <a:pPr algn="ctr"/>
            <a:r>
              <a:rPr sz="2400" b="1">
                <a:solidFill>
                  <a:srgbClr val="FFFFFF"/>
                </a:solidFill>
                <a:latin typeface="Calibri"/>
              </a:rPr>
              <a:t>20.2562</a:t>
            </a:r>
          </a:p>
        </p:txBody>
      </p:sp>
      <p:sp>
        <p:nvSpPr>
          <p:cNvPr id="31" name="TextBox 30"/>
          <p:cNvSpPr txBox="1"/>
          <p:nvPr/>
        </p:nvSpPr>
        <p:spPr>
          <a:xfrm>
            <a:off x="6217920" y="3611880"/>
            <a:ext cx="4937760" cy="365760"/>
          </a:xfrm>
          <a:prstGeom prst="rect">
            <a:avLst/>
          </a:prstGeom>
          <a:noFill/>
        </p:spPr>
        <p:txBody>
          <a:bodyPr wrap="square">
            <a:spAutoFit/>
          </a:bodyPr>
          <a:lstStyle/>
          <a:p>
            <a:pPr algn="ctr"/>
            <a:r>
              <a:rPr sz="1000" b="0">
                <a:solidFill>
                  <a:srgbClr val="FF4444"/>
                </a:solidFill>
                <a:latin typeface="Calibri"/>
              </a:rPr>
              <a:t>Vol stochastique | Diff : -0.31%</a:t>
            </a:r>
          </a:p>
        </p:txBody>
      </p:sp>
      <p:sp>
        <p:nvSpPr>
          <p:cNvPr id="32" name="Rectangle 31"/>
          <p:cNvSpPr/>
          <p:nvPr/>
        </p:nvSpPr>
        <p:spPr>
          <a:xfrm>
            <a:off x="274320" y="4206240"/>
            <a:ext cx="11064240" cy="146304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4297680"/>
            <a:ext cx="10698480" cy="365760"/>
          </a:xfrm>
          <a:prstGeom prst="rect">
            <a:avLst/>
          </a:prstGeom>
          <a:noFill/>
        </p:spPr>
        <p:txBody>
          <a:bodyPr wrap="square">
            <a:spAutoFit/>
          </a:bodyPr>
          <a:lstStyle/>
          <a:p>
            <a:pPr algn="l"/>
            <a:r>
              <a:rPr sz="1100" b="1">
                <a:solidFill>
                  <a:srgbClr val="00D4FF"/>
                </a:solidFill>
                <a:latin typeface="Calibri"/>
              </a:rPr>
              <a:t>POURQUOI HESTON DIFFÈRE DE BLACK-SCHOLES ?</a:t>
            </a:r>
          </a:p>
        </p:txBody>
      </p:sp>
      <p:sp>
        <p:nvSpPr>
          <p:cNvPr id="34" name="TextBox 33"/>
          <p:cNvSpPr txBox="1"/>
          <p:nvPr/>
        </p:nvSpPr>
        <p:spPr>
          <a:xfrm>
            <a:off x="457200" y="4663440"/>
            <a:ext cx="10698480" cy="914400"/>
          </a:xfrm>
          <a:prstGeom prst="rect">
            <a:avLst/>
          </a:prstGeom>
          <a:noFill/>
        </p:spPr>
        <p:txBody>
          <a:bodyPr wrap="square">
            <a:spAutoFit/>
          </a:bodyPr>
          <a:lstStyle/>
          <a:p>
            <a:pPr algn="l"/>
            <a:r>
              <a:rPr sz="1100" b="0">
                <a:solidFill>
                  <a:srgbClr val="FFFFFF"/>
                </a:solidFill>
                <a:latin typeface="Calibri"/>
              </a:rPr>
              <a:t>Black-Scholes suppose une volatilité CONSTANTE — irréaliste car la volatilité réelle fluctue dans le temps.
Heston modélise la volatilité comme un processus stochastique (CIR), capturant le smile de volatilité et les régimes de marché.
Résultat : Heston price mieux les options ITM/OTM et les produits exotiques.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548640"/>
          </a:xfrm>
          <a:prstGeom prst="rect">
            <a:avLst/>
          </a:prstGeom>
          <a:noFill/>
        </p:spPr>
        <p:txBody>
          <a:bodyPr wrap="square">
            <a:spAutoFit/>
          </a:bodyPr>
          <a:lstStyle/>
          <a:p>
            <a:pPr algn="l"/>
            <a:r>
              <a:rPr sz="1800" b="1">
                <a:solidFill>
                  <a:srgbClr val="00D4FF"/>
                </a:solidFill>
                <a:latin typeface="Calibri"/>
              </a:rPr>
              <a:t>SIGNAUX DE TRADING — ORCL</a:t>
            </a:r>
          </a:p>
        </p:txBody>
      </p:sp>
      <p:sp>
        <p:nvSpPr>
          <p:cNvPr id="4" name="Rectangle 3"/>
          <p:cNvSpPr/>
          <p:nvPr/>
        </p:nvSpPr>
        <p:spPr>
          <a:xfrm>
            <a:off x="274320" y="731520"/>
            <a:ext cx="11064240" cy="1905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914400"/>
            <a:ext cx="11064240" cy="118872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960120"/>
            <a:ext cx="7315200" cy="640080"/>
          </a:xfrm>
          <a:prstGeom prst="rect">
            <a:avLst/>
          </a:prstGeom>
          <a:noFill/>
        </p:spPr>
        <p:txBody>
          <a:bodyPr wrap="square">
            <a:spAutoFit/>
          </a:bodyPr>
          <a:lstStyle/>
          <a:p>
            <a:pPr algn="ctr"/>
            <a:r>
              <a:rPr sz="2600" b="1">
                <a:solidFill>
                  <a:srgbClr val="FFD700"/>
                </a:solidFill>
                <a:latin typeface="Calibri"/>
              </a:rPr>
              <a:t>SIGNAL FINAL : NEUTRE</a:t>
            </a:r>
          </a:p>
        </p:txBody>
      </p:sp>
      <p:sp>
        <p:nvSpPr>
          <p:cNvPr id="7" name="TextBox 6"/>
          <p:cNvSpPr txBox="1"/>
          <p:nvPr/>
        </p:nvSpPr>
        <p:spPr>
          <a:xfrm>
            <a:off x="7589520" y="960120"/>
            <a:ext cx="3657600" cy="640080"/>
          </a:xfrm>
          <a:prstGeom prst="rect">
            <a:avLst/>
          </a:prstGeom>
          <a:noFill/>
        </p:spPr>
        <p:txBody>
          <a:bodyPr wrap="square">
            <a:spAutoFit/>
          </a:bodyPr>
          <a:lstStyle/>
          <a:p>
            <a:pPr algn="ctr"/>
            <a:r>
              <a:rPr sz="2000" b="1">
                <a:solidFill>
                  <a:srgbClr val="FFD700"/>
                </a:solidFill>
                <a:latin typeface="Calibri"/>
              </a:rPr>
              <a:t>Conviction : 50%</a:t>
            </a:r>
          </a:p>
        </p:txBody>
      </p:sp>
      <p:sp>
        <p:nvSpPr>
          <p:cNvPr id="8" name="TextBox 7"/>
          <p:cNvSpPr txBox="1"/>
          <p:nvPr/>
        </p:nvSpPr>
        <p:spPr>
          <a:xfrm>
            <a:off x="457200" y="1554480"/>
            <a:ext cx="10972800" cy="457200"/>
          </a:xfrm>
          <a:prstGeom prst="rect">
            <a:avLst/>
          </a:prstGeom>
          <a:noFill/>
        </p:spPr>
        <p:txBody>
          <a:bodyPr wrap="square">
            <a:spAutoFit/>
          </a:bodyPr>
          <a:lstStyle/>
          <a:p>
            <a:pPr algn="ctr"/>
            <a:r>
              <a:rPr sz="1100" b="0">
                <a:solidFill>
                  <a:srgbClr val="FFFFFF"/>
                </a:solidFill>
                <a:latin typeface="Calibri"/>
              </a:rPr>
              <a:t>Pas de signal clair — rester en dehors du marché</a:t>
            </a:r>
          </a:p>
        </p:txBody>
      </p:sp>
      <p:sp>
        <p:nvSpPr>
          <p:cNvPr id="9" name="Rectangle 8"/>
          <p:cNvSpPr/>
          <p:nvPr/>
        </p:nvSpPr>
        <p:spPr>
          <a:xfrm>
            <a:off x="274320" y="2286000"/>
            <a:ext cx="1920240" cy="256032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377440"/>
            <a:ext cx="1920240" cy="411480"/>
          </a:xfrm>
          <a:prstGeom prst="rect">
            <a:avLst/>
          </a:prstGeom>
          <a:noFill/>
        </p:spPr>
        <p:txBody>
          <a:bodyPr wrap="square">
            <a:spAutoFit/>
          </a:bodyPr>
          <a:lstStyle/>
          <a:p>
            <a:pPr algn="ctr"/>
            <a:r>
              <a:rPr sz="900" b="1">
                <a:solidFill>
                  <a:srgbClr val="00D4FF"/>
                </a:solidFill>
                <a:latin typeface="Calibri"/>
              </a:rPr>
              <a:t>RSI</a:t>
            </a:r>
          </a:p>
        </p:txBody>
      </p:sp>
      <p:sp>
        <p:nvSpPr>
          <p:cNvPr id="11" name="TextBox 10"/>
          <p:cNvSpPr txBox="1"/>
          <p:nvPr/>
        </p:nvSpPr>
        <p:spPr>
          <a:xfrm>
            <a:off x="274320" y="2788920"/>
            <a:ext cx="1920240" cy="548640"/>
          </a:xfrm>
          <a:prstGeom prst="rect">
            <a:avLst/>
          </a:prstGeom>
          <a:noFill/>
        </p:spPr>
        <p:txBody>
          <a:bodyPr wrap="square">
            <a:spAutoFit/>
          </a:bodyPr>
          <a:lstStyle/>
          <a:p>
            <a:pPr algn="ctr"/>
            <a:r>
              <a:rPr sz="1600" b="1">
                <a:solidFill>
                  <a:srgbClr val="FFD700"/>
                </a:solidFill>
                <a:latin typeface="Calibri"/>
              </a:rPr>
              <a:t>NEUTRE</a:t>
            </a:r>
          </a:p>
        </p:txBody>
      </p:sp>
      <p:sp>
        <p:nvSpPr>
          <p:cNvPr id="12" name="TextBox 11"/>
          <p:cNvSpPr txBox="1"/>
          <p:nvPr/>
        </p:nvSpPr>
        <p:spPr>
          <a:xfrm>
            <a:off x="274320" y="3337560"/>
            <a:ext cx="1920240" cy="365760"/>
          </a:xfrm>
          <a:prstGeom prst="rect">
            <a:avLst/>
          </a:prstGeom>
          <a:noFill/>
        </p:spPr>
        <p:txBody>
          <a:bodyPr wrap="square">
            <a:spAutoFit/>
          </a:bodyPr>
          <a:lstStyle/>
          <a:p>
            <a:pPr algn="ctr"/>
            <a:r>
              <a:rPr sz="1000" b="0">
                <a:solidFill>
                  <a:srgbClr val="FFFFFF"/>
                </a:solidFill>
                <a:latin typeface="Calibri"/>
              </a:rPr>
              <a:t>50% conviction</a:t>
            </a:r>
          </a:p>
        </p:txBody>
      </p:sp>
      <p:sp>
        <p:nvSpPr>
          <p:cNvPr id="13" name="TextBox 12"/>
          <p:cNvSpPr txBox="1"/>
          <p:nvPr/>
        </p:nvSpPr>
        <p:spPr>
          <a:xfrm>
            <a:off x="320040" y="3749039"/>
            <a:ext cx="1828800" cy="914400"/>
          </a:xfrm>
          <a:prstGeom prst="rect">
            <a:avLst/>
          </a:prstGeom>
          <a:noFill/>
        </p:spPr>
        <p:txBody>
          <a:bodyPr wrap="square">
            <a:spAutoFit/>
          </a:bodyPr>
          <a:lstStyle/>
          <a:p>
            <a:pPr algn="ctr"/>
            <a:r>
              <a:rPr sz="800" b="0">
                <a:solidFill>
                  <a:srgbClr val="8B949E"/>
                </a:solidFill>
                <a:latin typeface="Calibri"/>
              </a:rPr>
              <a:t>RSI=65.3 → Zone neutre (30-70)</a:t>
            </a:r>
          </a:p>
        </p:txBody>
      </p:sp>
      <p:sp>
        <p:nvSpPr>
          <p:cNvPr id="14" name="Rectangle 13"/>
          <p:cNvSpPr/>
          <p:nvPr/>
        </p:nvSpPr>
        <p:spPr>
          <a:xfrm>
            <a:off x="2331720" y="2286000"/>
            <a:ext cx="1920240" cy="256032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31720" y="2377440"/>
            <a:ext cx="1920240" cy="411480"/>
          </a:xfrm>
          <a:prstGeom prst="rect">
            <a:avLst/>
          </a:prstGeom>
          <a:noFill/>
        </p:spPr>
        <p:txBody>
          <a:bodyPr wrap="square">
            <a:spAutoFit/>
          </a:bodyPr>
          <a:lstStyle/>
          <a:p>
            <a:pPr algn="ctr"/>
            <a:r>
              <a:rPr sz="900" b="1">
                <a:solidFill>
                  <a:srgbClr val="00D4FF"/>
                </a:solidFill>
                <a:latin typeface="Calibri"/>
              </a:rPr>
              <a:t>MACD</a:t>
            </a:r>
          </a:p>
        </p:txBody>
      </p:sp>
      <p:sp>
        <p:nvSpPr>
          <p:cNvPr id="16" name="TextBox 15"/>
          <p:cNvSpPr txBox="1"/>
          <p:nvPr/>
        </p:nvSpPr>
        <p:spPr>
          <a:xfrm>
            <a:off x="2331720" y="2788920"/>
            <a:ext cx="1920240" cy="548640"/>
          </a:xfrm>
          <a:prstGeom prst="rect">
            <a:avLst/>
          </a:prstGeom>
          <a:noFill/>
        </p:spPr>
        <p:txBody>
          <a:bodyPr wrap="square">
            <a:spAutoFit/>
          </a:bodyPr>
          <a:lstStyle/>
          <a:p>
            <a:pPr algn="ctr"/>
            <a:r>
              <a:rPr sz="1600" b="1">
                <a:solidFill>
                  <a:srgbClr val="00FF88"/>
                </a:solidFill>
                <a:latin typeface="Calibri"/>
              </a:rPr>
              <a:t>ACHETER</a:t>
            </a:r>
          </a:p>
        </p:txBody>
      </p:sp>
      <p:sp>
        <p:nvSpPr>
          <p:cNvPr id="17" name="TextBox 16"/>
          <p:cNvSpPr txBox="1"/>
          <p:nvPr/>
        </p:nvSpPr>
        <p:spPr>
          <a:xfrm>
            <a:off x="2331720" y="3337560"/>
            <a:ext cx="1920240" cy="365760"/>
          </a:xfrm>
          <a:prstGeom prst="rect">
            <a:avLst/>
          </a:prstGeom>
          <a:noFill/>
        </p:spPr>
        <p:txBody>
          <a:bodyPr wrap="square">
            <a:spAutoFit/>
          </a:bodyPr>
          <a:lstStyle/>
          <a:p>
            <a:pPr algn="ctr"/>
            <a:r>
              <a:rPr sz="1000" b="0">
                <a:solidFill>
                  <a:srgbClr val="FFFFFF"/>
                </a:solidFill>
                <a:latin typeface="Calibri"/>
              </a:rPr>
              <a:t>65% conviction</a:t>
            </a:r>
          </a:p>
        </p:txBody>
      </p:sp>
      <p:sp>
        <p:nvSpPr>
          <p:cNvPr id="18" name="TextBox 17"/>
          <p:cNvSpPr txBox="1"/>
          <p:nvPr/>
        </p:nvSpPr>
        <p:spPr>
          <a:xfrm>
            <a:off x="2377439" y="3749039"/>
            <a:ext cx="1828800" cy="914400"/>
          </a:xfrm>
          <a:prstGeom prst="rect">
            <a:avLst/>
          </a:prstGeom>
          <a:noFill/>
        </p:spPr>
        <p:txBody>
          <a:bodyPr wrap="square">
            <a:spAutoFit/>
          </a:bodyPr>
          <a:lstStyle/>
          <a:p>
            <a:pPr algn="ctr"/>
            <a:r>
              <a:rPr sz="800" b="0">
                <a:solidFill>
                  <a:srgbClr val="8B949E"/>
                </a:solidFill>
                <a:latin typeface="Calibri"/>
              </a:rPr>
              <a:t>MACD au-dessus du signal et en hausse</a:t>
            </a:r>
          </a:p>
        </p:txBody>
      </p:sp>
      <p:sp>
        <p:nvSpPr>
          <p:cNvPr id="19" name="Rectangle 18"/>
          <p:cNvSpPr/>
          <p:nvPr/>
        </p:nvSpPr>
        <p:spPr>
          <a:xfrm>
            <a:off x="4389120" y="2286000"/>
            <a:ext cx="1920240" cy="256032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20" y="2377440"/>
            <a:ext cx="1920240" cy="411480"/>
          </a:xfrm>
          <a:prstGeom prst="rect">
            <a:avLst/>
          </a:prstGeom>
          <a:noFill/>
        </p:spPr>
        <p:txBody>
          <a:bodyPr wrap="square">
            <a:spAutoFit/>
          </a:bodyPr>
          <a:lstStyle/>
          <a:p>
            <a:pPr algn="ctr"/>
            <a:r>
              <a:rPr sz="900" b="1">
                <a:solidFill>
                  <a:srgbClr val="00D4FF"/>
                </a:solidFill>
                <a:latin typeface="Calibri"/>
              </a:rPr>
              <a:t>Bollinger</a:t>
            </a:r>
          </a:p>
        </p:txBody>
      </p:sp>
      <p:sp>
        <p:nvSpPr>
          <p:cNvPr id="21" name="TextBox 20"/>
          <p:cNvSpPr txBox="1"/>
          <p:nvPr/>
        </p:nvSpPr>
        <p:spPr>
          <a:xfrm>
            <a:off x="4389120" y="2788920"/>
            <a:ext cx="1920240" cy="548640"/>
          </a:xfrm>
          <a:prstGeom prst="rect">
            <a:avLst/>
          </a:prstGeom>
          <a:noFill/>
        </p:spPr>
        <p:txBody>
          <a:bodyPr wrap="square">
            <a:spAutoFit/>
          </a:bodyPr>
          <a:lstStyle/>
          <a:p>
            <a:pPr algn="ctr"/>
            <a:r>
              <a:rPr sz="1600" b="1">
                <a:solidFill>
                  <a:srgbClr val="FF4444"/>
                </a:solidFill>
                <a:latin typeface="Calibri"/>
              </a:rPr>
              <a:t>VENDRE</a:t>
            </a:r>
          </a:p>
        </p:txBody>
      </p:sp>
      <p:sp>
        <p:nvSpPr>
          <p:cNvPr id="22" name="TextBox 21"/>
          <p:cNvSpPr txBox="1"/>
          <p:nvPr/>
        </p:nvSpPr>
        <p:spPr>
          <a:xfrm>
            <a:off x="4389120" y="3337560"/>
            <a:ext cx="1920240" cy="365760"/>
          </a:xfrm>
          <a:prstGeom prst="rect">
            <a:avLst/>
          </a:prstGeom>
          <a:noFill/>
        </p:spPr>
        <p:txBody>
          <a:bodyPr wrap="square">
            <a:spAutoFit/>
          </a:bodyPr>
          <a:lstStyle/>
          <a:p>
            <a:pPr algn="ctr"/>
            <a:r>
              <a:rPr sz="1000" b="0">
                <a:solidFill>
                  <a:srgbClr val="FFFFFF"/>
                </a:solidFill>
                <a:latin typeface="Calibri"/>
              </a:rPr>
              <a:t>15% conviction</a:t>
            </a:r>
          </a:p>
        </p:txBody>
      </p:sp>
      <p:sp>
        <p:nvSpPr>
          <p:cNvPr id="23" name="TextBox 22"/>
          <p:cNvSpPr txBox="1"/>
          <p:nvPr/>
        </p:nvSpPr>
        <p:spPr>
          <a:xfrm>
            <a:off x="4434840" y="3749039"/>
            <a:ext cx="1828800" cy="914400"/>
          </a:xfrm>
          <a:prstGeom prst="rect">
            <a:avLst/>
          </a:prstGeom>
          <a:noFill/>
        </p:spPr>
        <p:txBody>
          <a:bodyPr wrap="square">
            <a:spAutoFit/>
          </a:bodyPr>
          <a:lstStyle/>
          <a:p>
            <a:pPr algn="ctr"/>
            <a:r>
              <a:rPr sz="800" b="0">
                <a:solidFill>
                  <a:srgbClr val="8B949E"/>
                </a:solidFill>
                <a:latin typeface="Calibri"/>
              </a:rPr>
              <a:t>Prix au-dessus de la bande haute → retour à la moyenne probable</a:t>
            </a:r>
          </a:p>
        </p:txBody>
      </p:sp>
      <p:sp>
        <p:nvSpPr>
          <p:cNvPr id="24" name="Rectangle 23"/>
          <p:cNvSpPr/>
          <p:nvPr/>
        </p:nvSpPr>
        <p:spPr>
          <a:xfrm>
            <a:off x="6446520" y="2286000"/>
            <a:ext cx="1920240" cy="256032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2377440"/>
            <a:ext cx="1920240" cy="411480"/>
          </a:xfrm>
          <a:prstGeom prst="rect">
            <a:avLst/>
          </a:prstGeom>
          <a:noFill/>
        </p:spPr>
        <p:txBody>
          <a:bodyPr wrap="square">
            <a:spAutoFit/>
          </a:bodyPr>
          <a:lstStyle/>
          <a:p>
            <a:pPr algn="ctr"/>
            <a:r>
              <a:rPr sz="900" b="1">
                <a:solidFill>
                  <a:srgbClr val="00D4FF"/>
                </a:solidFill>
                <a:latin typeface="Calibri"/>
              </a:rPr>
              <a:t>MA Crossover (20/50)</a:t>
            </a:r>
          </a:p>
        </p:txBody>
      </p:sp>
      <p:sp>
        <p:nvSpPr>
          <p:cNvPr id="26" name="TextBox 25"/>
          <p:cNvSpPr txBox="1"/>
          <p:nvPr/>
        </p:nvSpPr>
        <p:spPr>
          <a:xfrm>
            <a:off x="6446520" y="2788920"/>
            <a:ext cx="1920240" cy="548640"/>
          </a:xfrm>
          <a:prstGeom prst="rect">
            <a:avLst/>
          </a:prstGeom>
          <a:noFill/>
        </p:spPr>
        <p:txBody>
          <a:bodyPr wrap="square">
            <a:spAutoFit/>
          </a:bodyPr>
          <a:lstStyle/>
          <a:p>
            <a:pPr algn="ctr"/>
            <a:r>
              <a:rPr sz="1600" b="1">
                <a:solidFill>
                  <a:srgbClr val="FF4444"/>
                </a:solidFill>
                <a:latin typeface="Calibri"/>
              </a:rPr>
              <a:t>VENDRE</a:t>
            </a:r>
          </a:p>
        </p:txBody>
      </p:sp>
      <p:sp>
        <p:nvSpPr>
          <p:cNvPr id="27" name="TextBox 26"/>
          <p:cNvSpPr txBox="1"/>
          <p:nvPr/>
        </p:nvSpPr>
        <p:spPr>
          <a:xfrm>
            <a:off x="6446520" y="3337560"/>
            <a:ext cx="1920240" cy="365760"/>
          </a:xfrm>
          <a:prstGeom prst="rect">
            <a:avLst/>
          </a:prstGeom>
          <a:noFill/>
        </p:spPr>
        <p:txBody>
          <a:bodyPr wrap="square">
            <a:spAutoFit/>
          </a:bodyPr>
          <a:lstStyle/>
          <a:p>
            <a:pPr algn="ctr"/>
            <a:r>
              <a:rPr sz="1000" b="0">
                <a:solidFill>
                  <a:srgbClr val="FFFFFF"/>
                </a:solidFill>
                <a:latin typeface="Calibri"/>
              </a:rPr>
              <a:t>60% conviction</a:t>
            </a:r>
          </a:p>
        </p:txBody>
      </p:sp>
      <p:sp>
        <p:nvSpPr>
          <p:cNvPr id="28" name="TextBox 27"/>
          <p:cNvSpPr txBox="1"/>
          <p:nvPr/>
        </p:nvSpPr>
        <p:spPr>
          <a:xfrm>
            <a:off x="6492240" y="3749039"/>
            <a:ext cx="1828800" cy="914400"/>
          </a:xfrm>
          <a:prstGeom prst="rect">
            <a:avLst/>
          </a:prstGeom>
          <a:noFill/>
        </p:spPr>
        <p:txBody>
          <a:bodyPr wrap="square">
            <a:spAutoFit/>
          </a:bodyPr>
          <a:lstStyle/>
          <a:p>
            <a:pPr algn="ctr"/>
            <a:r>
              <a:rPr sz="800" b="0">
                <a:solidFill>
                  <a:srgbClr val="8B949E"/>
                </a:solidFill>
                <a:latin typeface="Calibri"/>
              </a:rPr>
              <a:t>SMA20 (146.95) &lt; SMA50 (149.85) → Tendance baissière</a:t>
            </a:r>
          </a:p>
        </p:txBody>
      </p:sp>
      <p:sp>
        <p:nvSpPr>
          <p:cNvPr id="29" name="Rectangle 28"/>
          <p:cNvSpPr/>
          <p:nvPr/>
        </p:nvSpPr>
        <p:spPr>
          <a:xfrm>
            <a:off x="8503920" y="2286000"/>
            <a:ext cx="1920240" cy="256032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3920" y="2377440"/>
            <a:ext cx="1920240" cy="411480"/>
          </a:xfrm>
          <a:prstGeom prst="rect">
            <a:avLst/>
          </a:prstGeom>
          <a:noFill/>
        </p:spPr>
        <p:txBody>
          <a:bodyPr wrap="square">
            <a:spAutoFit/>
          </a:bodyPr>
          <a:lstStyle/>
          <a:p>
            <a:pPr algn="ctr"/>
            <a:r>
              <a:rPr sz="900" b="1">
                <a:solidFill>
                  <a:srgbClr val="00D4FF"/>
                </a:solidFill>
                <a:latin typeface="Calibri"/>
              </a:rPr>
              <a:t>Momentum (20j)</a:t>
            </a:r>
          </a:p>
        </p:txBody>
      </p:sp>
      <p:sp>
        <p:nvSpPr>
          <p:cNvPr id="31" name="TextBox 30"/>
          <p:cNvSpPr txBox="1"/>
          <p:nvPr/>
        </p:nvSpPr>
        <p:spPr>
          <a:xfrm>
            <a:off x="8503920" y="2788920"/>
            <a:ext cx="1920240" cy="548640"/>
          </a:xfrm>
          <a:prstGeom prst="rect">
            <a:avLst/>
          </a:prstGeom>
          <a:noFill/>
        </p:spPr>
        <p:txBody>
          <a:bodyPr wrap="square">
            <a:spAutoFit/>
          </a:bodyPr>
          <a:lstStyle/>
          <a:p>
            <a:pPr algn="ctr"/>
            <a:r>
              <a:rPr sz="1600" b="1">
                <a:solidFill>
                  <a:srgbClr val="00FF88"/>
                </a:solidFill>
                <a:latin typeface="Calibri"/>
              </a:rPr>
              <a:t>ACHETER</a:t>
            </a:r>
          </a:p>
        </p:txBody>
      </p:sp>
      <p:sp>
        <p:nvSpPr>
          <p:cNvPr id="32" name="TextBox 31"/>
          <p:cNvSpPr txBox="1"/>
          <p:nvPr/>
        </p:nvSpPr>
        <p:spPr>
          <a:xfrm>
            <a:off x="8503920" y="3337560"/>
            <a:ext cx="1920240" cy="365760"/>
          </a:xfrm>
          <a:prstGeom prst="rect">
            <a:avLst/>
          </a:prstGeom>
          <a:noFill/>
        </p:spPr>
        <p:txBody>
          <a:bodyPr wrap="square">
            <a:spAutoFit/>
          </a:bodyPr>
          <a:lstStyle/>
          <a:p>
            <a:pPr algn="ctr"/>
            <a:r>
              <a:rPr sz="1000" b="0">
                <a:solidFill>
                  <a:srgbClr val="FFFFFF"/>
                </a:solidFill>
                <a:latin typeface="Calibri"/>
              </a:rPr>
              <a:t>90% conviction</a:t>
            </a:r>
          </a:p>
        </p:txBody>
      </p:sp>
      <p:sp>
        <p:nvSpPr>
          <p:cNvPr id="33" name="TextBox 32"/>
          <p:cNvSpPr txBox="1"/>
          <p:nvPr/>
        </p:nvSpPr>
        <p:spPr>
          <a:xfrm>
            <a:off x="8549640" y="3749039"/>
            <a:ext cx="1828800" cy="914400"/>
          </a:xfrm>
          <a:prstGeom prst="rect">
            <a:avLst/>
          </a:prstGeom>
          <a:noFill/>
        </p:spPr>
        <p:txBody>
          <a:bodyPr wrap="square">
            <a:spAutoFit/>
          </a:bodyPr>
          <a:lstStyle/>
          <a:p>
            <a:pPr algn="ctr"/>
            <a:r>
              <a:rPr sz="800" b="0">
                <a:solidFill>
                  <a:srgbClr val="8B949E"/>
                </a:solidFill>
                <a:latin typeface="Calibri"/>
              </a:rPr>
              <a:t>Momentum fort : +5.7% sur 20j</a:t>
            </a:r>
          </a:p>
        </p:txBody>
      </p:sp>
      <p:sp>
        <p:nvSpPr>
          <p:cNvPr id="34" name="Rectangle 33"/>
          <p:cNvSpPr/>
          <p:nvPr/>
        </p:nvSpPr>
        <p:spPr>
          <a:xfrm>
            <a:off x="10561320" y="2286000"/>
            <a:ext cx="1920240" cy="256032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61320" y="2377440"/>
            <a:ext cx="1920240" cy="411480"/>
          </a:xfrm>
          <a:prstGeom prst="rect">
            <a:avLst/>
          </a:prstGeom>
          <a:noFill/>
        </p:spPr>
        <p:txBody>
          <a:bodyPr wrap="square">
            <a:spAutoFit/>
          </a:bodyPr>
          <a:lstStyle/>
          <a:p>
            <a:pPr algn="ctr"/>
            <a:r>
              <a:rPr sz="900" b="1">
                <a:solidFill>
                  <a:srgbClr val="00D4FF"/>
                </a:solidFill>
                <a:latin typeface="Calibri"/>
              </a:rPr>
              <a:t>Mean Reversion (Z-score 60j)</a:t>
            </a:r>
          </a:p>
        </p:txBody>
      </p:sp>
      <p:sp>
        <p:nvSpPr>
          <p:cNvPr id="36" name="TextBox 35"/>
          <p:cNvSpPr txBox="1"/>
          <p:nvPr/>
        </p:nvSpPr>
        <p:spPr>
          <a:xfrm>
            <a:off x="10561320" y="2788920"/>
            <a:ext cx="1920240" cy="548640"/>
          </a:xfrm>
          <a:prstGeom prst="rect">
            <a:avLst/>
          </a:prstGeom>
          <a:noFill/>
        </p:spPr>
        <p:txBody>
          <a:bodyPr wrap="square">
            <a:spAutoFit/>
          </a:bodyPr>
          <a:lstStyle/>
          <a:p>
            <a:pPr algn="ctr"/>
            <a:r>
              <a:rPr sz="1600" b="1">
                <a:solidFill>
                  <a:srgbClr val="FFD700"/>
                </a:solidFill>
                <a:latin typeface="Calibri"/>
              </a:rPr>
              <a:t>NEUTRE</a:t>
            </a:r>
          </a:p>
        </p:txBody>
      </p:sp>
      <p:sp>
        <p:nvSpPr>
          <p:cNvPr id="37" name="TextBox 36"/>
          <p:cNvSpPr txBox="1"/>
          <p:nvPr/>
        </p:nvSpPr>
        <p:spPr>
          <a:xfrm>
            <a:off x="10561320" y="3337560"/>
            <a:ext cx="1920240" cy="365760"/>
          </a:xfrm>
          <a:prstGeom prst="rect">
            <a:avLst/>
          </a:prstGeom>
          <a:noFill/>
        </p:spPr>
        <p:txBody>
          <a:bodyPr wrap="square">
            <a:spAutoFit/>
          </a:bodyPr>
          <a:lstStyle/>
          <a:p>
            <a:pPr algn="ctr"/>
            <a:r>
              <a:rPr sz="1000" b="0">
                <a:solidFill>
                  <a:srgbClr val="FFFFFF"/>
                </a:solidFill>
                <a:latin typeface="Calibri"/>
              </a:rPr>
              <a:t>50% conviction</a:t>
            </a:r>
          </a:p>
        </p:txBody>
      </p:sp>
      <p:sp>
        <p:nvSpPr>
          <p:cNvPr id="38" name="TextBox 37"/>
          <p:cNvSpPr txBox="1"/>
          <p:nvPr/>
        </p:nvSpPr>
        <p:spPr>
          <a:xfrm>
            <a:off x="10607040" y="3749039"/>
            <a:ext cx="1828800" cy="914400"/>
          </a:xfrm>
          <a:prstGeom prst="rect">
            <a:avLst/>
          </a:prstGeom>
          <a:noFill/>
        </p:spPr>
        <p:txBody>
          <a:bodyPr wrap="square">
            <a:spAutoFit/>
          </a:bodyPr>
          <a:lstStyle/>
          <a:p>
            <a:pPr algn="ctr"/>
            <a:r>
              <a:rPr sz="800" b="0">
                <a:solidFill>
                  <a:srgbClr val="8B949E"/>
                </a:solidFill>
                <a:latin typeface="Calibri"/>
              </a:rPr>
              <a:t>Z-score=0.74 → Prix proche de la moyenne</a:t>
            </a:r>
          </a:p>
        </p:txBody>
      </p:sp>
      <p:sp>
        <p:nvSpPr>
          <p:cNvPr id="39" name="Rectangle 38"/>
          <p:cNvSpPr/>
          <p:nvPr/>
        </p:nvSpPr>
        <p:spPr>
          <a:xfrm>
            <a:off x="274320" y="5029200"/>
            <a:ext cx="5303520" cy="109728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5120640"/>
            <a:ext cx="4937760" cy="457200"/>
          </a:xfrm>
          <a:prstGeom prst="rect">
            <a:avLst/>
          </a:prstGeom>
          <a:noFill/>
        </p:spPr>
        <p:txBody>
          <a:bodyPr wrap="square">
            <a:spAutoFit/>
          </a:bodyPr>
          <a:lstStyle/>
          <a:p>
            <a:pPr algn="l"/>
            <a:r>
              <a:rPr sz="1400" b="1">
                <a:solidFill>
                  <a:srgbClr val="00FF88"/>
                </a:solidFill>
                <a:latin typeface="Calibri"/>
              </a:rPr>
              <a:t>🟢 Score Achat : 26.5%</a:t>
            </a:r>
          </a:p>
        </p:txBody>
      </p:sp>
      <p:sp>
        <p:nvSpPr>
          <p:cNvPr id="41" name="TextBox 40"/>
          <p:cNvSpPr txBox="1"/>
          <p:nvPr/>
        </p:nvSpPr>
        <p:spPr>
          <a:xfrm>
            <a:off x="457200" y="5486400"/>
            <a:ext cx="4937760" cy="457200"/>
          </a:xfrm>
          <a:prstGeom prst="rect">
            <a:avLst/>
          </a:prstGeom>
          <a:noFill/>
        </p:spPr>
        <p:txBody>
          <a:bodyPr wrap="square">
            <a:spAutoFit/>
          </a:bodyPr>
          <a:lstStyle/>
          <a:p>
            <a:pPr algn="l"/>
            <a:r>
              <a:rPr sz="1100" b="0">
                <a:solidFill>
                  <a:srgbClr val="8B949E"/>
                </a:solidFill>
                <a:latin typeface="Calibri"/>
              </a:rPr>
              <a:t>Signaux haussiers : 2</a:t>
            </a:r>
          </a:p>
        </p:txBody>
      </p:sp>
      <p:sp>
        <p:nvSpPr>
          <p:cNvPr id="42" name="Rectangle 41"/>
          <p:cNvSpPr/>
          <p:nvPr/>
        </p:nvSpPr>
        <p:spPr>
          <a:xfrm>
            <a:off x="6035040" y="5029200"/>
            <a:ext cx="5303520" cy="109728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17920" y="5120640"/>
            <a:ext cx="4937760" cy="457200"/>
          </a:xfrm>
          <a:prstGeom prst="rect">
            <a:avLst/>
          </a:prstGeom>
          <a:noFill/>
        </p:spPr>
        <p:txBody>
          <a:bodyPr wrap="square">
            <a:spAutoFit/>
          </a:bodyPr>
          <a:lstStyle/>
          <a:p>
            <a:pPr algn="l"/>
            <a:r>
              <a:rPr sz="1400" b="1">
                <a:solidFill>
                  <a:srgbClr val="FF4444"/>
                </a:solidFill>
                <a:latin typeface="Calibri"/>
              </a:rPr>
              <a:t>🔴 Score Vente : 14.1%</a:t>
            </a:r>
          </a:p>
        </p:txBody>
      </p:sp>
      <p:sp>
        <p:nvSpPr>
          <p:cNvPr id="44" name="TextBox 43"/>
          <p:cNvSpPr txBox="1"/>
          <p:nvPr/>
        </p:nvSpPr>
        <p:spPr>
          <a:xfrm>
            <a:off x="6217920" y="5486400"/>
            <a:ext cx="4937760" cy="457200"/>
          </a:xfrm>
          <a:prstGeom prst="rect">
            <a:avLst/>
          </a:prstGeom>
          <a:noFill/>
        </p:spPr>
        <p:txBody>
          <a:bodyPr wrap="square">
            <a:spAutoFit/>
          </a:bodyPr>
          <a:lstStyle/>
          <a:p>
            <a:pPr algn="l"/>
            <a:r>
              <a:rPr sz="1100" b="0">
                <a:solidFill>
                  <a:srgbClr val="8B949E"/>
                </a:solidFill>
                <a:latin typeface="Calibri"/>
              </a:rPr>
              <a:t>Signaux baissiers : 2</a:t>
            </a:r>
          </a:p>
        </p:txBody>
      </p:sp>
      <p:sp>
        <p:nvSpPr>
          <p:cNvPr id="45" name="TextBox 44"/>
          <p:cNvSpPr txBox="1"/>
          <p:nvPr/>
        </p:nvSpPr>
        <p:spPr>
          <a:xfrm>
            <a:off x="274320" y="6309360"/>
            <a:ext cx="11064240" cy="411480"/>
          </a:xfrm>
          <a:prstGeom prst="rect">
            <a:avLst/>
          </a:prstGeom>
          <a:noFill/>
        </p:spPr>
        <p:txBody>
          <a:bodyPr wrap="square">
            <a:spAutoFit/>
          </a:bodyPr>
          <a:lstStyle/>
          <a:p>
            <a:pPr algn="ctr"/>
            <a:r>
              <a:rPr sz="900" b="0">
                <a:solidFill>
                  <a:srgbClr val="8B949E"/>
                </a:solidFill>
                <a:latin typeface="Calibri"/>
              </a:rPr>
              <a:t>⚠ Ces signaux sont indicatifs et basés sur l'analyse technique. Ils ne constituent pas un conseil en investissement.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0972800" cy="640080"/>
          </a:xfrm>
          <a:prstGeom prst="rect">
            <a:avLst/>
          </a:prstGeom>
          <a:noFill/>
        </p:spPr>
        <p:txBody>
          <a:bodyPr wrap="square">
            <a:spAutoFit/>
          </a:bodyPr>
          <a:lstStyle/>
          <a:p>
            <a:pPr algn="l"/>
            <a:r>
              <a:rPr sz="1800" b="1">
                <a:solidFill>
                  <a:srgbClr val="00D4FF"/>
                </a:solidFill>
                <a:latin typeface="Calibri"/>
              </a:rPr>
              <a:t>MÉTRIQUES QUANTITATIVES — ORCL</a:t>
            </a:r>
          </a:p>
        </p:txBody>
      </p:sp>
      <p:sp>
        <p:nvSpPr>
          <p:cNvPr id="4" name="Rectangle 3"/>
          <p:cNvSpPr/>
          <p:nvPr/>
        </p:nvSpPr>
        <p:spPr>
          <a:xfrm>
            <a:off x="274320" y="868680"/>
            <a:ext cx="11064240" cy="1905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005840"/>
            <a:ext cx="2651760" cy="128016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188720"/>
            <a:ext cx="2651760" cy="640080"/>
          </a:xfrm>
          <a:prstGeom prst="rect">
            <a:avLst/>
          </a:prstGeom>
          <a:noFill/>
        </p:spPr>
        <p:txBody>
          <a:bodyPr wrap="square">
            <a:spAutoFit/>
          </a:bodyPr>
          <a:lstStyle/>
          <a:p>
            <a:pPr algn="ctr"/>
            <a:r>
              <a:rPr sz="2200" b="1">
                <a:solidFill>
                  <a:srgbClr val="00FF88"/>
                </a:solidFill>
                <a:latin typeface="Calibri"/>
              </a:rPr>
              <a:t>22.92%</a:t>
            </a:r>
          </a:p>
        </p:txBody>
      </p:sp>
      <p:sp>
        <p:nvSpPr>
          <p:cNvPr id="7" name="TextBox 6"/>
          <p:cNvSpPr txBox="1"/>
          <p:nvPr/>
        </p:nvSpPr>
        <p:spPr>
          <a:xfrm>
            <a:off x="274320" y="1783080"/>
            <a:ext cx="2651760" cy="411480"/>
          </a:xfrm>
          <a:prstGeom prst="rect">
            <a:avLst/>
          </a:prstGeom>
          <a:noFill/>
        </p:spPr>
        <p:txBody>
          <a:bodyPr wrap="square">
            <a:spAutoFit/>
          </a:bodyPr>
          <a:lstStyle/>
          <a:p>
            <a:pPr algn="ctr"/>
            <a:r>
              <a:rPr sz="1000" b="0">
                <a:solidFill>
                  <a:srgbClr val="8B949E"/>
                </a:solidFill>
                <a:latin typeface="Calibri"/>
              </a:rPr>
              <a:t>Rendement Total</a:t>
            </a:r>
          </a:p>
        </p:txBody>
      </p:sp>
      <p:sp>
        <p:nvSpPr>
          <p:cNvPr id="8" name="Rectangle 7"/>
          <p:cNvSpPr/>
          <p:nvPr/>
        </p:nvSpPr>
        <p:spPr>
          <a:xfrm>
            <a:off x="3063239" y="1005840"/>
            <a:ext cx="2651760" cy="128016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63239" y="1188720"/>
            <a:ext cx="2651760" cy="640080"/>
          </a:xfrm>
          <a:prstGeom prst="rect">
            <a:avLst/>
          </a:prstGeom>
          <a:noFill/>
        </p:spPr>
        <p:txBody>
          <a:bodyPr wrap="square">
            <a:spAutoFit/>
          </a:bodyPr>
          <a:lstStyle/>
          <a:p>
            <a:pPr algn="ctr"/>
            <a:r>
              <a:rPr sz="2200" b="1">
                <a:solidFill>
                  <a:srgbClr val="00FF88"/>
                </a:solidFill>
                <a:latin typeface="Calibri"/>
              </a:rPr>
              <a:t>38.51%</a:t>
            </a:r>
          </a:p>
        </p:txBody>
      </p:sp>
      <p:sp>
        <p:nvSpPr>
          <p:cNvPr id="10" name="TextBox 9"/>
          <p:cNvSpPr txBox="1"/>
          <p:nvPr/>
        </p:nvSpPr>
        <p:spPr>
          <a:xfrm>
            <a:off x="3063239" y="1783080"/>
            <a:ext cx="2651760" cy="411480"/>
          </a:xfrm>
          <a:prstGeom prst="rect">
            <a:avLst/>
          </a:prstGeom>
          <a:noFill/>
        </p:spPr>
        <p:txBody>
          <a:bodyPr wrap="square">
            <a:spAutoFit/>
          </a:bodyPr>
          <a:lstStyle/>
          <a:p>
            <a:pPr algn="ctr"/>
            <a:r>
              <a:rPr sz="1000" b="0">
                <a:solidFill>
                  <a:srgbClr val="8B949E"/>
                </a:solidFill>
                <a:latin typeface="Calibri"/>
              </a:rPr>
              <a:t>Rendement Ann.</a:t>
            </a:r>
          </a:p>
        </p:txBody>
      </p:sp>
      <p:sp>
        <p:nvSpPr>
          <p:cNvPr id="11" name="Rectangle 10"/>
          <p:cNvSpPr/>
          <p:nvPr/>
        </p:nvSpPr>
        <p:spPr>
          <a:xfrm>
            <a:off x="5852159" y="1005840"/>
            <a:ext cx="2651760" cy="128016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59" y="1188720"/>
            <a:ext cx="2651760" cy="640080"/>
          </a:xfrm>
          <a:prstGeom prst="rect">
            <a:avLst/>
          </a:prstGeom>
          <a:noFill/>
        </p:spPr>
        <p:txBody>
          <a:bodyPr wrap="square">
            <a:spAutoFit/>
          </a:bodyPr>
          <a:lstStyle/>
          <a:p>
            <a:pPr algn="ctr"/>
            <a:r>
              <a:rPr sz="2200" b="1">
                <a:solidFill>
                  <a:srgbClr val="FFD700"/>
                </a:solidFill>
                <a:latin typeface="Calibri"/>
              </a:rPr>
              <a:t>61.63%</a:t>
            </a:r>
          </a:p>
        </p:txBody>
      </p:sp>
      <p:sp>
        <p:nvSpPr>
          <p:cNvPr id="13" name="TextBox 12"/>
          <p:cNvSpPr txBox="1"/>
          <p:nvPr/>
        </p:nvSpPr>
        <p:spPr>
          <a:xfrm>
            <a:off x="5852159" y="1783080"/>
            <a:ext cx="2651760" cy="411480"/>
          </a:xfrm>
          <a:prstGeom prst="rect">
            <a:avLst/>
          </a:prstGeom>
          <a:noFill/>
        </p:spPr>
        <p:txBody>
          <a:bodyPr wrap="square">
            <a:spAutoFit/>
          </a:bodyPr>
          <a:lstStyle/>
          <a:p>
            <a:pPr algn="ctr"/>
            <a:r>
              <a:rPr sz="1000" b="0">
                <a:solidFill>
                  <a:srgbClr val="8B949E"/>
                </a:solidFill>
                <a:latin typeface="Calibri"/>
              </a:rPr>
              <a:t>Volatilité Ann.</a:t>
            </a:r>
          </a:p>
        </p:txBody>
      </p:sp>
      <p:sp>
        <p:nvSpPr>
          <p:cNvPr id="14" name="Rectangle 13"/>
          <p:cNvSpPr/>
          <p:nvPr/>
        </p:nvSpPr>
        <p:spPr>
          <a:xfrm>
            <a:off x="8641080" y="1005840"/>
            <a:ext cx="2651760" cy="128016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41080" y="1188720"/>
            <a:ext cx="2651760" cy="640080"/>
          </a:xfrm>
          <a:prstGeom prst="rect">
            <a:avLst/>
          </a:prstGeom>
          <a:noFill/>
        </p:spPr>
        <p:txBody>
          <a:bodyPr wrap="square">
            <a:spAutoFit/>
          </a:bodyPr>
          <a:lstStyle/>
          <a:p>
            <a:pPr algn="ctr"/>
            <a:r>
              <a:rPr sz="2200" b="1">
                <a:solidFill>
                  <a:srgbClr val="FFD700"/>
                </a:solidFill>
                <a:latin typeface="Calibri"/>
              </a:rPr>
              <a:t>0.592</a:t>
            </a:r>
          </a:p>
        </p:txBody>
      </p:sp>
      <p:sp>
        <p:nvSpPr>
          <p:cNvPr id="16" name="TextBox 15"/>
          <p:cNvSpPr txBox="1"/>
          <p:nvPr/>
        </p:nvSpPr>
        <p:spPr>
          <a:xfrm>
            <a:off x="8641080" y="1783080"/>
            <a:ext cx="2651760" cy="411480"/>
          </a:xfrm>
          <a:prstGeom prst="rect">
            <a:avLst/>
          </a:prstGeom>
          <a:noFill/>
        </p:spPr>
        <p:txBody>
          <a:bodyPr wrap="square">
            <a:spAutoFit/>
          </a:bodyPr>
          <a:lstStyle/>
          <a:p>
            <a:pPr algn="ctr"/>
            <a:r>
              <a:rPr sz="1000" b="0">
                <a:solidFill>
                  <a:srgbClr val="8B949E"/>
                </a:solidFill>
                <a:latin typeface="Calibri"/>
              </a:rPr>
              <a:t>Sharpe Ratio</a:t>
            </a:r>
          </a:p>
        </p:txBody>
      </p:sp>
      <p:sp>
        <p:nvSpPr>
          <p:cNvPr id="17" name="Rectangle 16"/>
          <p:cNvSpPr/>
          <p:nvPr/>
        </p:nvSpPr>
        <p:spPr>
          <a:xfrm>
            <a:off x="274320" y="2423160"/>
            <a:ext cx="2651760" cy="128016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4320" y="2606040"/>
            <a:ext cx="2651760" cy="640080"/>
          </a:xfrm>
          <a:prstGeom prst="rect">
            <a:avLst/>
          </a:prstGeom>
          <a:noFill/>
        </p:spPr>
        <p:txBody>
          <a:bodyPr wrap="square">
            <a:spAutoFit/>
          </a:bodyPr>
          <a:lstStyle/>
          <a:p>
            <a:pPr algn="ctr"/>
            <a:r>
              <a:rPr sz="2200" b="1">
                <a:solidFill>
                  <a:srgbClr val="00FF88"/>
                </a:solidFill>
                <a:latin typeface="Calibri"/>
              </a:rPr>
              <a:t>1.176</a:t>
            </a:r>
          </a:p>
        </p:txBody>
      </p:sp>
      <p:sp>
        <p:nvSpPr>
          <p:cNvPr id="19" name="TextBox 18"/>
          <p:cNvSpPr txBox="1"/>
          <p:nvPr/>
        </p:nvSpPr>
        <p:spPr>
          <a:xfrm>
            <a:off x="274320" y="3200400"/>
            <a:ext cx="2651760" cy="411480"/>
          </a:xfrm>
          <a:prstGeom prst="rect">
            <a:avLst/>
          </a:prstGeom>
          <a:noFill/>
        </p:spPr>
        <p:txBody>
          <a:bodyPr wrap="square">
            <a:spAutoFit/>
          </a:bodyPr>
          <a:lstStyle/>
          <a:p>
            <a:pPr algn="ctr"/>
            <a:r>
              <a:rPr sz="1000" b="0">
                <a:solidFill>
                  <a:srgbClr val="8B949E"/>
                </a:solidFill>
                <a:latin typeface="Calibri"/>
              </a:rPr>
              <a:t>Sortino Ratio</a:t>
            </a:r>
          </a:p>
        </p:txBody>
      </p:sp>
      <p:sp>
        <p:nvSpPr>
          <p:cNvPr id="20" name="Rectangle 19"/>
          <p:cNvSpPr/>
          <p:nvPr/>
        </p:nvSpPr>
        <p:spPr>
          <a:xfrm>
            <a:off x="3063239" y="2423160"/>
            <a:ext cx="2651760" cy="128016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63239" y="2606040"/>
            <a:ext cx="2651760" cy="640080"/>
          </a:xfrm>
          <a:prstGeom prst="rect">
            <a:avLst/>
          </a:prstGeom>
          <a:noFill/>
        </p:spPr>
        <p:txBody>
          <a:bodyPr wrap="square">
            <a:spAutoFit/>
          </a:bodyPr>
          <a:lstStyle/>
          <a:p>
            <a:pPr algn="ctr"/>
            <a:r>
              <a:rPr sz="2200" b="1">
                <a:solidFill>
                  <a:srgbClr val="FF4444"/>
                </a:solidFill>
                <a:latin typeface="Calibri"/>
              </a:rPr>
              <a:t>-58.25%</a:t>
            </a:r>
          </a:p>
        </p:txBody>
      </p:sp>
      <p:sp>
        <p:nvSpPr>
          <p:cNvPr id="22" name="TextBox 21"/>
          <p:cNvSpPr txBox="1"/>
          <p:nvPr/>
        </p:nvSpPr>
        <p:spPr>
          <a:xfrm>
            <a:off x="3063239" y="3200400"/>
            <a:ext cx="2651760" cy="411480"/>
          </a:xfrm>
          <a:prstGeom prst="rect">
            <a:avLst/>
          </a:prstGeom>
          <a:noFill/>
        </p:spPr>
        <p:txBody>
          <a:bodyPr wrap="square">
            <a:spAutoFit/>
          </a:bodyPr>
          <a:lstStyle/>
          <a:p>
            <a:pPr algn="ctr"/>
            <a:r>
              <a:rPr sz="1000" b="0">
                <a:solidFill>
                  <a:srgbClr val="8B949E"/>
                </a:solidFill>
                <a:latin typeface="Calibri"/>
              </a:rPr>
              <a:t>Max Drawdown</a:t>
            </a:r>
          </a:p>
        </p:txBody>
      </p:sp>
      <p:sp>
        <p:nvSpPr>
          <p:cNvPr id="23" name="Rectangle 22"/>
          <p:cNvSpPr/>
          <p:nvPr/>
        </p:nvSpPr>
        <p:spPr>
          <a:xfrm>
            <a:off x="5852159" y="2423160"/>
            <a:ext cx="2651760" cy="128016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52159" y="2606040"/>
            <a:ext cx="2651760" cy="640080"/>
          </a:xfrm>
          <a:prstGeom prst="rect">
            <a:avLst/>
          </a:prstGeom>
          <a:noFill/>
        </p:spPr>
        <p:txBody>
          <a:bodyPr wrap="square">
            <a:spAutoFit/>
          </a:bodyPr>
          <a:lstStyle/>
          <a:p>
            <a:pPr algn="ctr"/>
            <a:r>
              <a:rPr sz="2200" b="1">
                <a:solidFill>
                  <a:srgbClr val="FF4444"/>
                </a:solidFill>
                <a:latin typeface="Calibri"/>
              </a:rPr>
              <a:t>-5.31%</a:t>
            </a:r>
          </a:p>
        </p:txBody>
      </p:sp>
      <p:sp>
        <p:nvSpPr>
          <p:cNvPr id="25" name="TextBox 24"/>
          <p:cNvSpPr txBox="1"/>
          <p:nvPr/>
        </p:nvSpPr>
        <p:spPr>
          <a:xfrm>
            <a:off x="5852159" y="3200400"/>
            <a:ext cx="2651760" cy="411480"/>
          </a:xfrm>
          <a:prstGeom prst="rect">
            <a:avLst/>
          </a:prstGeom>
          <a:noFill/>
        </p:spPr>
        <p:txBody>
          <a:bodyPr wrap="square">
            <a:spAutoFit/>
          </a:bodyPr>
          <a:lstStyle/>
          <a:p>
            <a:pPr algn="ctr"/>
            <a:r>
              <a:rPr sz="1000" b="0">
                <a:solidFill>
                  <a:srgbClr val="8B949E"/>
                </a:solidFill>
                <a:latin typeface="Calibri"/>
              </a:rPr>
              <a:t>VaR 95%</a:t>
            </a:r>
          </a:p>
        </p:txBody>
      </p:sp>
      <p:sp>
        <p:nvSpPr>
          <p:cNvPr id="26" name="Rectangle 25"/>
          <p:cNvSpPr/>
          <p:nvPr/>
        </p:nvSpPr>
        <p:spPr>
          <a:xfrm>
            <a:off x="8641080" y="2423160"/>
            <a:ext cx="2651760" cy="128016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41080" y="2606040"/>
            <a:ext cx="2651760" cy="640080"/>
          </a:xfrm>
          <a:prstGeom prst="rect">
            <a:avLst/>
          </a:prstGeom>
          <a:noFill/>
        </p:spPr>
        <p:txBody>
          <a:bodyPr wrap="square">
            <a:spAutoFit/>
          </a:bodyPr>
          <a:lstStyle/>
          <a:p>
            <a:pPr algn="ctr"/>
            <a:r>
              <a:rPr sz="2200" b="1">
                <a:solidFill>
                  <a:srgbClr val="FF4444"/>
                </a:solidFill>
                <a:latin typeface="Calibri"/>
              </a:rPr>
              <a:t>-6.45%</a:t>
            </a:r>
          </a:p>
        </p:txBody>
      </p:sp>
      <p:sp>
        <p:nvSpPr>
          <p:cNvPr id="28" name="TextBox 27"/>
          <p:cNvSpPr txBox="1"/>
          <p:nvPr/>
        </p:nvSpPr>
        <p:spPr>
          <a:xfrm>
            <a:off x="8641080" y="3200400"/>
            <a:ext cx="2651760" cy="411480"/>
          </a:xfrm>
          <a:prstGeom prst="rect">
            <a:avLst/>
          </a:prstGeom>
          <a:noFill/>
        </p:spPr>
        <p:txBody>
          <a:bodyPr wrap="square">
            <a:spAutoFit/>
          </a:bodyPr>
          <a:lstStyle/>
          <a:p>
            <a:pPr algn="ctr"/>
            <a:r>
              <a:rPr sz="1000" b="0">
                <a:solidFill>
                  <a:srgbClr val="8B949E"/>
                </a:solidFill>
                <a:latin typeface="Calibri"/>
              </a:rPr>
              <a:t>CVaR 95%</a:t>
            </a:r>
          </a:p>
        </p:txBody>
      </p:sp>
      <p:sp>
        <p:nvSpPr>
          <p:cNvPr id="29" name="Rectangle 28"/>
          <p:cNvSpPr/>
          <p:nvPr/>
        </p:nvSpPr>
        <p:spPr>
          <a:xfrm>
            <a:off x="274320" y="3840479"/>
            <a:ext cx="2651760" cy="128016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4320" y="4023359"/>
            <a:ext cx="2651760" cy="640080"/>
          </a:xfrm>
          <a:prstGeom prst="rect">
            <a:avLst/>
          </a:prstGeom>
          <a:noFill/>
        </p:spPr>
        <p:txBody>
          <a:bodyPr wrap="square">
            <a:spAutoFit/>
          </a:bodyPr>
          <a:lstStyle/>
          <a:p>
            <a:pPr algn="ctr"/>
            <a:r>
              <a:rPr sz="2200" b="1">
                <a:solidFill>
                  <a:srgbClr val="00FF88"/>
                </a:solidFill>
                <a:latin typeface="Calibri"/>
              </a:rPr>
              <a:t>51.8%</a:t>
            </a:r>
          </a:p>
        </p:txBody>
      </p:sp>
      <p:sp>
        <p:nvSpPr>
          <p:cNvPr id="31" name="TextBox 30"/>
          <p:cNvSpPr txBox="1"/>
          <p:nvPr/>
        </p:nvSpPr>
        <p:spPr>
          <a:xfrm>
            <a:off x="274320" y="4617719"/>
            <a:ext cx="2651760" cy="411480"/>
          </a:xfrm>
          <a:prstGeom prst="rect">
            <a:avLst/>
          </a:prstGeom>
          <a:noFill/>
        </p:spPr>
        <p:txBody>
          <a:bodyPr wrap="square">
            <a:spAutoFit/>
          </a:bodyPr>
          <a:lstStyle/>
          <a:p>
            <a:pPr algn="ctr"/>
            <a:r>
              <a:rPr sz="1000" b="0">
                <a:solidFill>
                  <a:srgbClr val="8B949E"/>
                </a:solidFill>
                <a:latin typeface="Calibri"/>
              </a:rPr>
              <a:t>Win Rate</a:t>
            </a:r>
          </a:p>
        </p:txBody>
      </p:sp>
      <p:sp>
        <p:nvSpPr>
          <p:cNvPr id="32" name="Rectangle 31"/>
          <p:cNvSpPr/>
          <p:nvPr/>
        </p:nvSpPr>
        <p:spPr>
          <a:xfrm>
            <a:off x="3063239" y="3840479"/>
            <a:ext cx="2651760" cy="128016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63239" y="4023359"/>
            <a:ext cx="2651760" cy="640080"/>
          </a:xfrm>
          <a:prstGeom prst="rect">
            <a:avLst/>
          </a:prstGeom>
          <a:noFill/>
        </p:spPr>
        <p:txBody>
          <a:bodyPr wrap="square">
            <a:spAutoFit/>
          </a:bodyPr>
          <a:lstStyle/>
          <a:p>
            <a:pPr algn="ctr"/>
            <a:r>
              <a:rPr sz="2200" b="1">
                <a:solidFill>
                  <a:srgbClr val="FFFFFF"/>
                </a:solidFill>
                <a:latin typeface="Calibri"/>
              </a:rPr>
              <a:t>-0.085</a:t>
            </a:r>
          </a:p>
        </p:txBody>
      </p:sp>
      <p:sp>
        <p:nvSpPr>
          <p:cNvPr id="34" name="TextBox 33"/>
          <p:cNvSpPr txBox="1"/>
          <p:nvPr/>
        </p:nvSpPr>
        <p:spPr>
          <a:xfrm>
            <a:off x="3063239" y="4617719"/>
            <a:ext cx="2651760" cy="411480"/>
          </a:xfrm>
          <a:prstGeom prst="rect">
            <a:avLst/>
          </a:prstGeom>
          <a:noFill/>
        </p:spPr>
        <p:txBody>
          <a:bodyPr wrap="square">
            <a:spAutoFit/>
          </a:bodyPr>
          <a:lstStyle/>
          <a:p>
            <a:pPr algn="ctr"/>
            <a:r>
              <a:rPr sz="1000" b="0">
                <a:solidFill>
                  <a:srgbClr val="8B949E"/>
                </a:solidFill>
                <a:latin typeface="Calibri"/>
              </a:rPr>
              <a:t>Beta</a:t>
            </a:r>
          </a:p>
        </p:txBody>
      </p:sp>
      <p:sp>
        <p:nvSpPr>
          <p:cNvPr id="35" name="Rectangle 34"/>
          <p:cNvSpPr/>
          <p:nvPr/>
        </p:nvSpPr>
        <p:spPr>
          <a:xfrm>
            <a:off x="5852159" y="3840479"/>
            <a:ext cx="2651760" cy="128016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52159" y="4023359"/>
            <a:ext cx="2651760" cy="640080"/>
          </a:xfrm>
          <a:prstGeom prst="rect">
            <a:avLst/>
          </a:prstGeom>
          <a:noFill/>
        </p:spPr>
        <p:txBody>
          <a:bodyPr wrap="square">
            <a:spAutoFit/>
          </a:bodyPr>
          <a:lstStyle/>
          <a:p>
            <a:pPr algn="ctr"/>
            <a:r>
              <a:rPr sz="2200" b="1">
                <a:solidFill>
                  <a:srgbClr val="FFFFFF"/>
                </a:solidFill>
                <a:latin typeface="Calibri"/>
              </a:rPr>
              <a:t>3.343</a:t>
            </a:r>
          </a:p>
        </p:txBody>
      </p:sp>
      <p:sp>
        <p:nvSpPr>
          <p:cNvPr id="37" name="TextBox 36"/>
          <p:cNvSpPr txBox="1"/>
          <p:nvPr/>
        </p:nvSpPr>
        <p:spPr>
          <a:xfrm>
            <a:off x="5852159" y="4617719"/>
            <a:ext cx="2651760" cy="411480"/>
          </a:xfrm>
          <a:prstGeom prst="rect">
            <a:avLst/>
          </a:prstGeom>
          <a:noFill/>
        </p:spPr>
        <p:txBody>
          <a:bodyPr wrap="square">
            <a:spAutoFit/>
          </a:bodyPr>
          <a:lstStyle/>
          <a:p>
            <a:pPr algn="ctr"/>
            <a:r>
              <a:rPr sz="1000" b="0">
                <a:solidFill>
                  <a:srgbClr val="8B949E"/>
                </a:solidFill>
                <a:latin typeface="Calibri"/>
              </a:rPr>
              <a:t>Skewness</a:t>
            </a:r>
          </a:p>
        </p:txBody>
      </p:sp>
      <p:sp>
        <p:nvSpPr>
          <p:cNvPr id="38" name="Rectangle 37"/>
          <p:cNvSpPr/>
          <p:nvPr/>
        </p:nvSpPr>
        <p:spPr>
          <a:xfrm>
            <a:off x="8641080" y="3840479"/>
            <a:ext cx="2651760" cy="128016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641080" y="4023359"/>
            <a:ext cx="2651760" cy="640080"/>
          </a:xfrm>
          <a:prstGeom prst="rect">
            <a:avLst/>
          </a:prstGeom>
          <a:noFill/>
        </p:spPr>
        <p:txBody>
          <a:bodyPr wrap="square">
            <a:spAutoFit/>
          </a:bodyPr>
          <a:lstStyle/>
          <a:p>
            <a:pPr algn="ctr"/>
            <a:r>
              <a:rPr sz="2200" b="1">
                <a:solidFill>
                  <a:srgbClr val="FFFFFF"/>
                </a:solidFill>
                <a:latin typeface="Calibri"/>
              </a:rPr>
              <a:t>29.122</a:t>
            </a:r>
          </a:p>
        </p:txBody>
      </p:sp>
      <p:sp>
        <p:nvSpPr>
          <p:cNvPr id="40" name="TextBox 39"/>
          <p:cNvSpPr txBox="1"/>
          <p:nvPr/>
        </p:nvSpPr>
        <p:spPr>
          <a:xfrm>
            <a:off x="8641080" y="4617719"/>
            <a:ext cx="2651760" cy="411480"/>
          </a:xfrm>
          <a:prstGeom prst="rect">
            <a:avLst/>
          </a:prstGeom>
          <a:noFill/>
        </p:spPr>
        <p:txBody>
          <a:bodyPr wrap="square">
            <a:spAutoFit/>
          </a:bodyPr>
          <a:lstStyle/>
          <a:p>
            <a:pPr algn="ctr"/>
            <a:r>
              <a:rPr sz="1000" b="0">
                <a:solidFill>
                  <a:srgbClr val="8B949E"/>
                </a:solidFill>
                <a:latin typeface="Calibri"/>
              </a:rPr>
              <a:t>Kurtosis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0972800" cy="640080"/>
          </a:xfrm>
          <a:prstGeom prst="rect">
            <a:avLst/>
          </a:prstGeom>
          <a:noFill/>
        </p:spPr>
        <p:txBody>
          <a:bodyPr wrap="square">
            <a:spAutoFit/>
          </a:bodyPr>
          <a:lstStyle/>
          <a:p>
            <a:pPr algn="l"/>
            <a:r>
              <a:rPr sz="2000" b="1">
                <a:solidFill>
                  <a:srgbClr val="00D4FF"/>
                </a:solidFill>
                <a:latin typeface="Calibri"/>
              </a:rPr>
              <a:t>ANALYSE &amp; COMMENTAIRES IA</a:t>
            </a:r>
          </a:p>
        </p:txBody>
      </p:sp>
      <p:sp>
        <p:nvSpPr>
          <p:cNvPr id="4" name="Rectangle 3"/>
          <p:cNvSpPr/>
          <p:nvPr/>
        </p:nvSpPr>
        <p:spPr>
          <a:xfrm>
            <a:off x="274320" y="868680"/>
            <a:ext cx="11064240" cy="1905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005840"/>
            <a:ext cx="11064240" cy="320040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97280"/>
            <a:ext cx="10698480" cy="3017520"/>
          </a:xfrm>
          <a:prstGeom prst="rect">
            <a:avLst/>
          </a:prstGeom>
          <a:noFill/>
        </p:spPr>
        <p:txBody>
          <a:bodyPr wrap="square">
            <a:spAutoFit/>
          </a:bodyPr>
          <a:lstStyle/>
          <a:p>
            <a:pPr algn="l"/>
            <a:r>
              <a:rPr sz="1300" b="0">
                <a:solidFill>
                  <a:srgbClr val="FFFFFF"/>
                </a:solidFill>
                <a:latin typeface="Calibri"/>
              </a:rPr>
              <a:t>L'actif financier en question affiche une performance globale solide, avec un rendement total de 22,92% et un rendement annualisé de 38,51% sur la période considérée. Cependant, ce rendement est accompagné d'une volatilité annualisée élevée de 61,63%, ce qui suggère un ratio risque/rendement mitigé, comme le reflète un Sharpe Ratio de 0,59. Les points forts de cet actif incluent une forte asymétrie positive de la distribution des rendements, avec une skewness de 3,34, tandis que les points faibles sont représentés par un maximum de drawdown de -58,25% et une valeur à risque (VaR) à 95% de -5,31%. En conclusion, cet actif financier présente une qualité moyenne, avec des rendements attractifs mais une volatilité et un risque de perte élevés, ce qui nécessite une gestion prudente et une diversification appropriée.</a:t>
            </a:r>
          </a:p>
        </p:txBody>
      </p:sp>
      <p:sp>
        <p:nvSpPr>
          <p:cNvPr id="7" name="Rectangle 6"/>
          <p:cNvSpPr/>
          <p:nvPr/>
        </p:nvSpPr>
        <p:spPr>
          <a:xfrm>
            <a:off x="274320" y="4389120"/>
            <a:ext cx="3566160" cy="137160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4480560"/>
            <a:ext cx="3566160" cy="457200"/>
          </a:xfrm>
          <a:prstGeom prst="rect">
            <a:avLst/>
          </a:prstGeom>
          <a:noFill/>
        </p:spPr>
        <p:txBody>
          <a:bodyPr wrap="square">
            <a:spAutoFit/>
          </a:bodyPr>
          <a:lstStyle/>
          <a:p>
            <a:pPr algn="ctr"/>
            <a:r>
              <a:rPr sz="1000" b="1">
                <a:solidFill>
                  <a:srgbClr val="8B949E"/>
                </a:solidFill>
                <a:latin typeface="Calibri"/>
              </a:rPr>
              <a:t>SHARPE RATIO</a:t>
            </a:r>
          </a:p>
        </p:txBody>
      </p:sp>
      <p:sp>
        <p:nvSpPr>
          <p:cNvPr id="9" name="TextBox 8"/>
          <p:cNvSpPr txBox="1"/>
          <p:nvPr/>
        </p:nvSpPr>
        <p:spPr>
          <a:xfrm>
            <a:off x="274320" y="4846320"/>
            <a:ext cx="3566160" cy="640080"/>
          </a:xfrm>
          <a:prstGeom prst="rect">
            <a:avLst/>
          </a:prstGeom>
          <a:noFill/>
        </p:spPr>
        <p:txBody>
          <a:bodyPr wrap="square">
            <a:spAutoFit/>
          </a:bodyPr>
          <a:lstStyle/>
          <a:p>
            <a:pPr algn="ctr"/>
            <a:r>
              <a:rPr sz="1800" b="1">
                <a:solidFill>
                  <a:srgbClr val="FF4444"/>
                </a:solidFill>
                <a:latin typeface="Calibri"/>
              </a:rPr>
              <a:t>Faible</a:t>
            </a:r>
          </a:p>
        </p:txBody>
      </p:sp>
      <p:sp>
        <p:nvSpPr>
          <p:cNvPr id="10" name="Rectangle 9"/>
          <p:cNvSpPr/>
          <p:nvPr/>
        </p:nvSpPr>
        <p:spPr>
          <a:xfrm>
            <a:off x="4023359" y="4389120"/>
            <a:ext cx="3566160" cy="137160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23359" y="4480560"/>
            <a:ext cx="3566160" cy="457200"/>
          </a:xfrm>
          <a:prstGeom prst="rect">
            <a:avLst/>
          </a:prstGeom>
          <a:noFill/>
        </p:spPr>
        <p:txBody>
          <a:bodyPr wrap="square">
            <a:spAutoFit/>
          </a:bodyPr>
          <a:lstStyle/>
          <a:p>
            <a:pPr algn="ctr"/>
            <a:r>
              <a:rPr sz="1000" b="1">
                <a:solidFill>
                  <a:srgbClr val="8B949E"/>
                </a:solidFill>
                <a:latin typeface="Calibri"/>
              </a:rPr>
              <a:t>DRAWDOWN MAX</a:t>
            </a:r>
          </a:p>
        </p:txBody>
      </p:sp>
      <p:sp>
        <p:nvSpPr>
          <p:cNvPr id="12" name="TextBox 11"/>
          <p:cNvSpPr txBox="1"/>
          <p:nvPr/>
        </p:nvSpPr>
        <p:spPr>
          <a:xfrm>
            <a:off x="4023359" y="4846320"/>
            <a:ext cx="3566160" cy="640080"/>
          </a:xfrm>
          <a:prstGeom prst="rect">
            <a:avLst/>
          </a:prstGeom>
          <a:noFill/>
        </p:spPr>
        <p:txBody>
          <a:bodyPr wrap="square">
            <a:spAutoFit/>
          </a:bodyPr>
          <a:lstStyle/>
          <a:p>
            <a:pPr algn="ctr"/>
            <a:r>
              <a:rPr sz="1800" b="1">
                <a:solidFill>
                  <a:srgbClr val="FF4444"/>
                </a:solidFill>
                <a:latin typeface="Calibri"/>
              </a:rPr>
              <a:t>Élevé</a:t>
            </a:r>
          </a:p>
        </p:txBody>
      </p:sp>
      <p:sp>
        <p:nvSpPr>
          <p:cNvPr id="13" name="Rectangle 12"/>
          <p:cNvSpPr/>
          <p:nvPr/>
        </p:nvSpPr>
        <p:spPr>
          <a:xfrm>
            <a:off x="7772400" y="4389120"/>
            <a:ext cx="3566160" cy="137160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4480560"/>
            <a:ext cx="3566160" cy="457200"/>
          </a:xfrm>
          <a:prstGeom prst="rect">
            <a:avLst/>
          </a:prstGeom>
          <a:noFill/>
        </p:spPr>
        <p:txBody>
          <a:bodyPr wrap="square">
            <a:spAutoFit/>
          </a:bodyPr>
          <a:lstStyle/>
          <a:p>
            <a:pPr algn="ctr"/>
            <a:r>
              <a:rPr sz="1000" b="1">
                <a:solidFill>
                  <a:srgbClr val="8B949E"/>
                </a:solidFill>
                <a:latin typeface="Calibri"/>
              </a:rPr>
              <a:t>WIN RATE</a:t>
            </a:r>
          </a:p>
        </p:txBody>
      </p:sp>
      <p:sp>
        <p:nvSpPr>
          <p:cNvPr id="15" name="TextBox 14"/>
          <p:cNvSpPr txBox="1"/>
          <p:nvPr/>
        </p:nvSpPr>
        <p:spPr>
          <a:xfrm>
            <a:off x="7772400" y="4846320"/>
            <a:ext cx="3566160" cy="640080"/>
          </a:xfrm>
          <a:prstGeom prst="rect">
            <a:avLst/>
          </a:prstGeom>
          <a:noFill/>
        </p:spPr>
        <p:txBody>
          <a:bodyPr wrap="square">
            <a:spAutoFit/>
          </a:bodyPr>
          <a:lstStyle/>
          <a:p>
            <a:pPr algn="ctr"/>
            <a:r>
              <a:rPr sz="1800" b="1">
                <a:solidFill>
                  <a:srgbClr val="FF4444"/>
                </a:solidFill>
                <a:latin typeface="Calibri"/>
              </a:rPr>
              <a:t>Moyen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0972800" cy="640080"/>
          </a:xfrm>
          <a:prstGeom prst="rect">
            <a:avLst/>
          </a:prstGeom>
          <a:noFill/>
        </p:spPr>
        <p:txBody>
          <a:bodyPr wrap="square">
            <a:spAutoFit/>
          </a:bodyPr>
          <a:lstStyle/>
          <a:p>
            <a:pPr algn="l"/>
            <a:r>
              <a:rPr sz="1800" b="1">
                <a:solidFill>
                  <a:srgbClr val="00D4FF"/>
                </a:solidFill>
                <a:latin typeface="Calibri"/>
              </a:rPr>
              <a:t>STRESS TESTING — ORCL</a:t>
            </a:r>
          </a:p>
        </p:txBody>
      </p:sp>
      <p:sp>
        <p:nvSpPr>
          <p:cNvPr id="4" name="Rectangle 3"/>
          <p:cNvSpPr/>
          <p:nvPr/>
        </p:nvSpPr>
        <p:spPr>
          <a:xfrm>
            <a:off x="274320" y="868680"/>
            <a:ext cx="11064240" cy="1905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005840"/>
            <a:ext cx="11064240" cy="82296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97280"/>
            <a:ext cx="10698480" cy="640080"/>
          </a:xfrm>
          <a:prstGeom prst="rect">
            <a:avLst/>
          </a:prstGeom>
          <a:noFill/>
        </p:spPr>
        <p:txBody>
          <a:bodyPr wrap="square">
            <a:spAutoFit/>
          </a:bodyPr>
          <a:lstStyle/>
          <a:p>
            <a:pPr algn="l"/>
            <a:r>
              <a:rPr sz="1200" b="0">
                <a:solidFill>
                  <a:srgbClr val="FF4444"/>
                </a:solidFill>
                <a:latin typeface="Calibri"/>
              </a:rPr>
              <a:t>Pire scénario : -92.4%  |  Crise la plus impactante : Crise 2008 (Subprime)</a:t>
            </a:r>
          </a:p>
        </p:txBody>
      </p:sp>
      <p:sp>
        <p:nvSpPr>
          <p:cNvPr id="7" name="TextBox 6"/>
          <p:cNvSpPr txBox="1"/>
          <p:nvPr/>
        </p:nvSpPr>
        <p:spPr>
          <a:xfrm>
            <a:off x="274320" y="1920240"/>
            <a:ext cx="2286000" cy="365760"/>
          </a:xfrm>
          <a:prstGeom prst="rect">
            <a:avLst/>
          </a:prstGeom>
          <a:noFill/>
        </p:spPr>
        <p:txBody>
          <a:bodyPr wrap="square">
            <a:spAutoFit/>
          </a:bodyPr>
          <a:lstStyle/>
          <a:p>
            <a:pPr algn="l"/>
            <a:r>
              <a:rPr sz="1000" b="1">
                <a:solidFill>
                  <a:srgbClr val="00D4FF"/>
                </a:solidFill>
                <a:latin typeface="Calibri"/>
              </a:rPr>
              <a:t>Crise</a:t>
            </a:r>
          </a:p>
        </p:txBody>
      </p:sp>
      <p:sp>
        <p:nvSpPr>
          <p:cNvPr id="8" name="TextBox 7"/>
          <p:cNvSpPr txBox="1"/>
          <p:nvPr/>
        </p:nvSpPr>
        <p:spPr>
          <a:xfrm>
            <a:off x="4114800" y="1920240"/>
            <a:ext cx="2286000" cy="365760"/>
          </a:xfrm>
          <a:prstGeom prst="rect">
            <a:avLst/>
          </a:prstGeom>
          <a:noFill/>
        </p:spPr>
        <p:txBody>
          <a:bodyPr wrap="square">
            <a:spAutoFit/>
          </a:bodyPr>
          <a:lstStyle/>
          <a:p>
            <a:pPr algn="l"/>
            <a:r>
              <a:rPr sz="1000" b="1">
                <a:solidFill>
                  <a:srgbClr val="00D4FF"/>
                </a:solidFill>
                <a:latin typeface="Calibri"/>
              </a:rPr>
              <a:t>Durée</a:t>
            </a:r>
          </a:p>
        </p:txBody>
      </p:sp>
      <p:sp>
        <p:nvSpPr>
          <p:cNvPr id="9" name="TextBox 8"/>
          <p:cNvSpPr txBox="1"/>
          <p:nvPr/>
        </p:nvSpPr>
        <p:spPr>
          <a:xfrm>
            <a:off x="6400800" y="1920240"/>
            <a:ext cx="2286000" cy="365760"/>
          </a:xfrm>
          <a:prstGeom prst="rect">
            <a:avLst/>
          </a:prstGeom>
          <a:noFill/>
        </p:spPr>
        <p:txBody>
          <a:bodyPr wrap="square">
            <a:spAutoFit/>
          </a:bodyPr>
          <a:lstStyle/>
          <a:p>
            <a:pPr algn="l"/>
            <a:r>
              <a:rPr sz="1000" b="1">
                <a:solidFill>
                  <a:srgbClr val="00D4FF"/>
                </a:solidFill>
                <a:latin typeface="Calibri"/>
              </a:rPr>
              <a:t>Choc Hist.</a:t>
            </a:r>
          </a:p>
        </p:txBody>
      </p:sp>
      <p:sp>
        <p:nvSpPr>
          <p:cNvPr id="10" name="TextBox 9"/>
          <p:cNvSpPr txBox="1"/>
          <p:nvPr/>
        </p:nvSpPr>
        <p:spPr>
          <a:xfrm>
            <a:off x="8686800" y="1920240"/>
            <a:ext cx="2286000" cy="365760"/>
          </a:xfrm>
          <a:prstGeom prst="rect">
            <a:avLst/>
          </a:prstGeom>
          <a:noFill/>
        </p:spPr>
        <p:txBody>
          <a:bodyPr wrap="square">
            <a:spAutoFit/>
          </a:bodyPr>
          <a:lstStyle/>
          <a:p>
            <a:pPr algn="l"/>
            <a:r>
              <a:rPr sz="1000" b="1">
                <a:solidFill>
                  <a:srgbClr val="00D4FF"/>
                </a:solidFill>
                <a:latin typeface="Calibri"/>
              </a:rPr>
              <a:t>Perte Sim.</a:t>
            </a:r>
          </a:p>
        </p:txBody>
      </p:sp>
      <p:sp>
        <p:nvSpPr>
          <p:cNvPr id="11" name="TextBox 10"/>
          <p:cNvSpPr txBox="1"/>
          <p:nvPr/>
        </p:nvSpPr>
        <p:spPr>
          <a:xfrm>
            <a:off x="10515600" y="1920240"/>
            <a:ext cx="2286000" cy="365760"/>
          </a:xfrm>
          <a:prstGeom prst="rect">
            <a:avLst/>
          </a:prstGeom>
          <a:noFill/>
        </p:spPr>
        <p:txBody>
          <a:bodyPr wrap="square">
            <a:spAutoFit/>
          </a:bodyPr>
          <a:lstStyle/>
          <a:p>
            <a:pPr algn="l"/>
            <a:r>
              <a:rPr sz="1000" b="1">
                <a:solidFill>
                  <a:srgbClr val="00D4FF"/>
                </a:solidFill>
                <a:latin typeface="Calibri"/>
              </a:rPr>
              <a:t>VaR Stress</a:t>
            </a:r>
          </a:p>
        </p:txBody>
      </p:sp>
      <p:sp>
        <p:nvSpPr>
          <p:cNvPr id="12" name="Rectangle 11"/>
          <p:cNvSpPr/>
          <p:nvPr/>
        </p:nvSpPr>
        <p:spPr>
          <a:xfrm>
            <a:off x="274320" y="2377440"/>
            <a:ext cx="11064240" cy="50292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2450592"/>
            <a:ext cx="2103120" cy="365760"/>
          </a:xfrm>
          <a:prstGeom prst="rect">
            <a:avLst/>
          </a:prstGeom>
          <a:noFill/>
        </p:spPr>
        <p:txBody>
          <a:bodyPr wrap="square">
            <a:spAutoFit/>
          </a:bodyPr>
          <a:lstStyle/>
          <a:p>
            <a:pPr algn="l"/>
            <a:r>
              <a:rPr sz="1000" b="0">
                <a:solidFill>
                  <a:srgbClr val="FFFFFF"/>
                </a:solidFill>
                <a:latin typeface="Calibri"/>
              </a:rPr>
              <a:t>Crise 2008</a:t>
            </a:r>
          </a:p>
        </p:txBody>
      </p:sp>
      <p:sp>
        <p:nvSpPr>
          <p:cNvPr id="14" name="TextBox 13"/>
          <p:cNvSpPr txBox="1"/>
          <p:nvPr/>
        </p:nvSpPr>
        <p:spPr>
          <a:xfrm>
            <a:off x="4114800" y="2450592"/>
            <a:ext cx="2103120" cy="365760"/>
          </a:xfrm>
          <a:prstGeom prst="rect">
            <a:avLst/>
          </a:prstGeom>
          <a:noFill/>
        </p:spPr>
        <p:txBody>
          <a:bodyPr wrap="square">
            <a:spAutoFit/>
          </a:bodyPr>
          <a:lstStyle/>
          <a:p>
            <a:pPr algn="l"/>
            <a:r>
              <a:rPr sz="1000" b="0">
                <a:solidFill>
                  <a:srgbClr val="FFFFFF"/>
                </a:solidFill>
                <a:latin typeface="Calibri"/>
              </a:rPr>
              <a:t>180j</a:t>
            </a:r>
          </a:p>
        </p:txBody>
      </p:sp>
      <p:sp>
        <p:nvSpPr>
          <p:cNvPr id="15" name="TextBox 14"/>
          <p:cNvSpPr txBox="1"/>
          <p:nvPr/>
        </p:nvSpPr>
        <p:spPr>
          <a:xfrm>
            <a:off x="6400800" y="2450592"/>
            <a:ext cx="2103120" cy="365760"/>
          </a:xfrm>
          <a:prstGeom prst="rect">
            <a:avLst/>
          </a:prstGeom>
          <a:noFill/>
        </p:spPr>
        <p:txBody>
          <a:bodyPr wrap="square">
            <a:spAutoFit/>
          </a:bodyPr>
          <a:lstStyle/>
          <a:p>
            <a:pPr algn="l"/>
            <a:r>
              <a:rPr sz="1000" b="0">
                <a:solidFill>
                  <a:srgbClr val="FF4444"/>
                </a:solidFill>
                <a:latin typeface="Calibri"/>
              </a:rPr>
              <a:t>-50.0%</a:t>
            </a:r>
          </a:p>
        </p:txBody>
      </p:sp>
      <p:sp>
        <p:nvSpPr>
          <p:cNvPr id="16" name="TextBox 15"/>
          <p:cNvSpPr txBox="1"/>
          <p:nvPr/>
        </p:nvSpPr>
        <p:spPr>
          <a:xfrm>
            <a:off x="8686800" y="2450592"/>
            <a:ext cx="2103120" cy="365760"/>
          </a:xfrm>
          <a:prstGeom prst="rect">
            <a:avLst/>
          </a:prstGeom>
          <a:noFill/>
        </p:spPr>
        <p:txBody>
          <a:bodyPr wrap="square">
            <a:spAutoFit/>
          </a:bodyPr>
          <a:lstStyle/>
          <a:p>
            <a:pPr algn="l"/>
            <a:r>
              <a:rPr sz="1000" b="0">
                <a:solidFill>
                  <a:srgbClr val="FF4444"/>
                </a:solidFill>
                <a:latin typeface="Calibri"/>
              </a:rPr>
              <a:t>-92.4%</a:t>
            </a:r>
          </a:p>
        </p:txBody>
      </p:sp>
      <p:sp>
        <p:nvSpPr>
          <p:cNvPr id="17" name="TextBox 16"/>
          <p:cNvSpPr txBox="1"/>
          <p:nvPr/>
        </p:nvSpPr>
        <p:spPr>
          <a:xfrm>
            <a:off x="10515600" y="2450592"/>
            <a:ext cx="2103120" cy="365760"/>
          </a:xfrm>
          <a:prstGeom prst="rect">
            <a:avLst/>
          </a:prstGeom>
          <a:noFill/>
        </p:spPr>
        <p:txBody>
          <a:bodyPr wrap="square">
            <a:spAutoFit/>
          </a:bodyPr>
          <a:lstStyle/>
          <a:p>
            <a:pPr algn="l"/>
            <a:r>
              <a:rPr sz="1000" b="0">
                <a:solidFill>
                  <a:srgbClr val="FF4444"/>
                </a:solidFill>
                <a:latin typeface="Calibri"/>
              </a:rPr>
              <a:t>-20.42%</a:t>
            </a:r>
          </a:p>
        </p:txBody>
      </p:sp>
      <p:sp>
        <p:nvSpPr>
          <p:cNvPr id="18" name="Rectangle 17"/>
          <p:cNvSpPr/>
          <p:nvPr/>
        </p:nvSpPr>
        <p:spPr>
          <a:xfrm>
            <a:off x="274320" y="2971800"/>
            <a:ext cx="11064240" cy="50292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3044952"/>
            <a:ext cx="2103120" cy="365760"/>
          </a:xfrm>
          <a:prstGeom prst="rect">
            <a:avLst/>
          </a:prstGeom>
          <a:noFill/>
        </p:spPr>
        <p:txBody>
          <a:bodyPr wrap="square">
            <a:spAutoFit/>
          </a:bodyPr>
          <a:lstStyle/>
          <a:p>
            <a:pPr algn="l"/>
            <a:r>
              <a:rPr sz="1000" b="0">
                <a:solidFill>
                  <a:srgbClr val="FFFFFF"/>
                </a:solidFill>
                <a:latin typeface="Calibri"/>
              </a:rPr>
              <a:t>COVID-19</a:t>
            </a:r>
          </a:p>
        </p:txBody>
      </p:sp>
      <p:sp>
        <p:nvSpPr>
          <p:cNvPr id="20" name="TextBox 19"/>
          <p:cNvSpPr txBox="1"/>
          <p:nvPr/>
        </p:nvSpPr>
        <p:spPr>
          <a:xfrm>
            <a:off x="4114800" y="3044952"/>
            <a:ext cx="2103120" cy="365760"/>
          </a:xfrm>
          <a:prstGeom prst="rect">
            <a:avLst/>
          </a:prstGeom>
          <a:noFill/>
        </p:spPr>
        <p:txBody>
          <a:bodyPr wrap="square">
            <a:spAutoFit/>
          </a:bodyPr>
          <a:lstStyle/>
          <a:p>
            <a:pPr algn="l"/>
            <a:r>
              <a:rPr sz="1000" b="0">
                <a:solidFill>
                  <a:srgbClr val="FFFFFF"/>
                </a:solidFill>
                <a:latin typeface="Calibri"/>
              </a:rPr>
              <a:t>33j</a:t>
            </a:r>
          </a:p>
        </p:txBody>
      </p:sp>
      <p:sp>
        <p:nvSpPr>
          <p:cNvPr id="21" name="TextBox 20"/>
          <p:cNvSpPr txBox="1"/>
          <p:nvPr/>
        </p:nvSpPr>
        <p:spPr>
          <a:xfrm>
            <a:off x="6400800" y="3044952"/>
            <a:ext cx="2103120" cy="365760"/>
          </a:xfrm>
          <a:prstGeom prst="rect">
            <a:avLst/>
          </a:prstGeom>
          <a:noFill/>
        </p:spPr>
        <p:txBody>
          <a:bodyPr wrap="square">
            <a:spAutoFit/>
          </a:bodyPr>
          <a:lstStyle/>
          <a:p>
            <a:pPr algn="l"/>
            <a:r>
              <a:rPr sz="1000" b="0">
                <a:solidFill>
                  <a:srgbClr val="FF4444"/>
                </a:solidFill>
                <a:latin typeface="Calibri"/>
              </a:rPr>
              <a:t>-34.0%</a:t>
            </a:r>
          </a:p>
        </p:txBody>
      </p:sp>
      <p:sp>
        <p:nvSpPr>
          <p:cNvPr id="22" name="TextBox 21"/>
          <p:cNvSpPr txBox="1"/>
          <p:nvPr/>
        </p:nvSpPr>
        <p:spPr>
          <a:xfrm>
            <a:off x="8686800" y="3044952"/>
            <a:ext cx="2103120" cy="365760"/>
          </a:xfrm>
          <a:prstGeom prst="rect">
            <a:avLst/>
          </a:prstGeom>
          <a:noFill/>
        </p:spPr>
        <p:txBody>
          <a:bodyPr wrap="square">
            <a:spAutoFit/>
          </a:bodyPr>
          <a:lstStyle/>
          <a:p>
            <a:pPr algn="l"/>
            <a:r>
              <a:rPr sz="1000" b="0">
                <a:solidFill>
                  <a:srgbClr val="FF4444"/>
                </a:solidFill>
                <a:latin typeface="Calibri"/>
              </a:rPr>
              <a:t>-75.3%</a:t>
            </a:r>
          </a:p>
        </p:txBody>
      </p:sp>
      <p:sp>
        <p:nvSpPr>
          <p:cNvPr id="23" name="TextBox 22"/>
          <p:cNvSpPr txBox="1"/>
          <p:nvPr/>
        </p:nvSpPr>
        <p:spPr>
          <a:xfrm>
            <a:off x="10515600" y="3044952"/>
            <a:ext cx="2103120" cy="365760"/>
          </a:xfrm>
          <a:prstGeom prst="rect">
            <a:avLst/>
          </a:prstGeom>
          <a:noFill/>
        </p:spPr>
        <p:txBody>
          <a:bodyPr wrap="square">
            <a:spAutoFit/>
          </a:bodyPr>
          <a:lstStyle/>
          <a:p>
            <a:pPr algn="l"/>
            <a:r>
              <a:rPr sz="1000" b="0">
                <a:solidFill>
                  <a:srgbClr val="FF4444"/>
                </a:solidFill>
                <a:latin typeface="Calibri"/>
              </a:rPr>
              <a:t>-25.02%</a:t>
            </a:r>
          </a:p>
        </p:txBody>
      </p:sp>
      <p:sp>
        <p:nvSpPr>
          <p:cNvPr id="24" name="Rectangle 23"/>
          <p:cNvSpPr/>
          <p:nvPr/>
        </p:nvSpPr>
        <p:spPr>
          <a:xfrm>
            <a:off x="274320" y="3566160"/>
            <a:ext cx="11064240" cy="50292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 y="3639312"/>
            <a:ext cx="2103120" cy="365760"/>
          </a:xfrm>
          <a:prstGeom prst="rect">
            <a:avLst/>
          </a:prstGeom>
          <a:noFill/>
        </p:spPr>
        <p:txBody>
          <a:bodyPr wrap="square">
            <a:spAutoFit/>
          </a:bodyPr>
          <a:lstStyle/>
          <a:p>
            <a:pPr algn="l"/>
            <a:r>
              <a:rPr sz="1000" b="0">
                <a:solidFill>
                  <a:srgbClr val="FFFFFF"/>
                </a:solidFill>
                <a:latin typeface="Calibri"/>
              </a:rPr>
              <a:t>Crise Dot-com</a:t>
            </a:r>
          </a:p>
        </p:txBody>
      </p:sp>
      <p:sp>
        <p:nvSpPr>
          <p:cNvPr id="26" name="TextBox 25"/>
          <p:cNvSpPr txBox="1"/>
          <p:nvPr/>
        </p:nvSpPr>
        <p:spPr>
          <a:xfrm>
            <a:off x="4114800" y="3639312"/>
            <a:ext cx="2103120" cy="365760"/>
          </a:xfrm>
          <a:prstGeom prst="rect">
            <a:avLst/>
          </a:prstGeom>
          <a:noFill/>
        </p:spPr>
        <p:txBody>
          <a:bodyPr wrap="square">
            <a:spAutoFit/>
          </a:bodyPr>
          <a:lstStyle/>
          <a:p>
            <a:pPr algn="l"/>
            <a:r>
              <a:rPr sz="1000" b="0">
                <a:solidFill>
                  <a:srgbClr val="FFFFFF"/>
                </a:solidFill>
                <a:latin typeface="Calibri"/>
              </a:rPr>
              <a:t>929j</a:t>
            </a:r>
          </a:p>
        </p:txBody>
      </p:sp>
      <p:sp>
        <p:nvSpPr>
          <p:cNvPr id="27" name="TextBox 26"/>
          <p:cNvSpPr txBox="1"/>
          <p:nvPr/>
        </p:nvSpPr>
        <p:spPr>
          <a:xfrm>
            <a:off x="6400800" y="3639312"/>
            <a:ext cx="2103120" cy="365760"/>
          </a:xfrm>
          <a:prstGeom prst="rect">
            <a:avLst/>
          </a:prstGeom>
          <a:noFill/>
        </p:spPr>
        <p:txBody>
          <a:bodyPr wrap="square">
            <a:spAutoFit/>
          </a:bodyPr>
          <a:lstStyle/>
          <a:p>
            <a:pPr algn="l"/>
            <a:r>
              <a:rPr sz="1000" b="0">
                <a:solidFill>
                  <a:srgbClr val="FF4444"/>
                </a:solidFill>
                <a:latin typeface="Calibri"/>
              </a:rPr>
              <a:t>-49.0%</a:t>
            </a:r>
          </a:p>
        </p:txBody>
      </p:sp>
      <p:sp>
        <p:nvSpPr>
          <p:cNvPr id="28" name="TextBox 27"/>
          <p:cNvSpPr txBox="1"/>
          <p:nvPr/>
        </p:nvSpPr>
        <p:spPr>
          <a:xfrm>
            <a:off x="8686800" y="3639312"/>
            <a:ext cx="2103120" cy="365760"/>
          </a:xfrm>
          <a:prstGeom prst="rect">
            <a:avLst/>
          </a:prstGeom>
          <a:noFill/>
        </p:spPr>
        <p:txBody>
          <a:bodyPr wrap="square">
            <a:spAutoFit/>
          </a:bodyPr>
          <a:lstStyle/>
          <a:p>
            <a:pPr algn="l"/>
            <a:r>
              <a:rPr sz="1000" b="0">
                <a:solidFill>
                  <a:srgbClr val="FF4444"/>
                </a:solidFill>
                <a:latin typeface="Calibri"/>
              </a:rPr>
              <a:t>-91.1%</a:t>
            </a:r>
          </a:p>
        </p:txBody>
      </p:sp>
      <p:sp>
        <p:nvSpPr>
          <p:cNvPr id="29" name="TextBox 28"/>
          <p:cNvSpPr txBox="1"/>
          <p:nvPr/>
        </p:nvSpPr>
        <p:spPr>
          <a:xfrm>
            <a:off x="10515600" y="3639312"/>
            <a:ext cx="2103120" cy="365760"/>
          </a:xfrm>
          <a:prstGeom prst="rect">
            <a:avLst/>
          </a:prstGeom>
          <a:noFill/>
        </p:spPr>
        <p:txBody>
          <a:bodyPr wrap="square">
            <a:spAutoFit/>
          </a:bodyPr>
          <a:lstStyle/>
          <a:p>
            <a:pPr algn="l"/>
            <a:r>
              <a:rPr sz="1000" b="0">
                <a:solidFill>
                  <a:srgbClr val="FF4444"/>
                </a:solidFill>
                <a:latin typeface="Calibri"/>
              </a:rPr>
              <a:t>-14.79%</a:t>
            </a:r>
          </a:p>
        </p:txBody>
      </p:sp>
      <p:sp>
        <p:nvSpPr>
          <p:cNvPr id="30" name="Rectangle 29"/>
          <p:cNvSpPr/>
          <p:nvPr/>
        </p:nvSpPr>
        <p:spPr>
          <a:xfrm>
            <a:off x="274320" y="4160520"/>
            <a:ext cx="11064240" cy="50292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4320" y="4233672"/>
            <a:ext cx="2103120" cy="365760"/>
          </a:xfrm>
          <a:prstGeom prst="rect">
            <a:avLst/>
          </a:prstGeom>
          <a:noFill/>
        </p:spPr>
        <p:txBody>
          <a:bodyPr wrap="square">
            <a:spAutoFit/>
          </a:bodyPr>
          <a:lstStyle/>
          <a:p>
            <a:pPr algn="l"/>
            <a:r>
              <a:rPr sz="1000" b="0">
                <a:solidFill>
                  <a:srgbClr val="FFFFFF"/>
                </a:solidFill>
                <a:latin typeface="Calibri"/>
              </a:rPr>
              <a:t>Flash Crash</a:t>
            </a:r>
          </a:p>
        </p:txBody>
      </p:sp>
      <p:sp>
        <p:nvSpPr>
          <p:cNvPr id="32" name="TextBox 31"/>
          <p:cNvSpPr txBox="1"/>
          <p:nvPr/>
        </p:nvSpPr>
        <p:spPr>
          <a:xfrm>
            <a:off x="4114800" y="4233672"/>
            <a:ext cx="2103120" cy="365760"/>
          </a:xfrm>
          <a:prstGeom prst="rect">
            <a:avLst/>
          </a:prstGeom>
          <a:noFill/>
        </p:spPr>
        <p:txBody>
          <a:bodyPr wrap="square">
            <a:spAutoFit/>
          </a:bodyPr>
          <a:lstStyle/>
          <a:p>
            <a:pPr algn="l"/>
            <a:r>
              <a:rPr sz="1000" b="0">
                <a:solidFill>
                  <a:srgbClr val="FFFFFF"/>
                </a:solidFill>
                <a:latin typeface="Calibri"/>
              </a:rPr>
              <a:t>1j</a:t>
            </a:r>
          </a:p>
        </p:txBody>
      </p:sp>
      <p:sp>
        <p:nvSpPr>
          <p:cNvPr id="33" name="TextBox 32"/>
          <p:cNvSpPr txBox="1"/>
          <p:nvPr/>
        </p:nvSpPr>
        <p:spPr>
          <a:xfrm>
            <a:off x="6400800" y="4233672"/>
            <a:ext cx="2103120" cy="365760"/>
          </a:xfrm>
          <a:prstGeom prst="rect">
            <a:avLst/>
          </a:prstGeom>
          <a:noFill/>
        </p:spPr>
        <p:txBody>
          <a:bodyPr wrap="square">
            <a:spAutoFit/>
          </a:bodyPr>
          <a:lstStyle/>
          <a:p>
            <a:pPr algn="l"/>
            <a:r>
              <a:rPr sz="1000" b="0">
                <a:solidFill>
                  <a:srgbClr val="FF4444"/>
                </a:solidFill>
                <a:latin typeface="Calibri"/>
              </a:rPr>
              <a:t>-9.0%</a:t>
            </a:r>
          </a:p>
        </p:txBody>
      </p:sp>
      <p:sp>
        <p:nvSpPr>
          <p:cNvPr id="34" name="TextBox 33"/>
          <p:cNvSpPr txBox="1"/>
          <p:nvPr/>
        </p:nvSpPr>
        <p:spPr>
          <a:xfrm>
            <a:off x="8686800" y="4233672"/>
            <a:ext cx="2103120" cy="365760"/>
          </a:xfrm>
          <a:prstGeom prst="rect">
            <a:avLst/>
          </a:prstGeom>
          <a:noFill/>
        </p:spPr>
        <p:txBody>
          <a:bodyPr wrap="square">
            <a:spAutoFit/>
          </a:bodyPr>
          <a:lstStyle/>
          <a:p>
            <a:pPr algn="l"/>
            <a:r>
              <a:rPr sz="1000" b="0">
                <a:solidFill>
                  <a:srgbClr val="FFFFFF"/>
                </a:solidFill>
                <a:latin typeface="Calibri"/>
              </a:rPr>
              <a:t>0.6%</a:t>
            </a:r>
          </a:p>
        </p:txBody>
      </p:sp>
      <p:sp>
        <p:nvSpPr>
          <p:cNvPr id="35" name="TextBox 34"/>
          <p:cNvSpPr txBox="1"/>
          <p:nvPr/>
        </p:nvSpPr>
        <p:spPr>
          <a:xfrm>
            <a:off x="10515600" y="4233672"/>
            <a:ext cx="2103120" cy="365760"/>
          </a:xfrm>
          <a:prstGeom prst="rect">
            <a:avLst/>
          </a:prstGeom>
          <a:noFill/>
        </p:spPr>
        <p:txBody>
          <a:bodyPr wrap="square">
            <a:spAutoFit/>
          </a:bodyPr>
          <a:lstStyle/>
          <a:p>
            <a:pPr algn="l"/>
            <a:r>
              <a:rPr sz="1000" b="0">
                <a:solidFill>
                  <a:srgbClr val="FFFFFF"/>
                </a:solidFill>
                <a:latin typeface="Calibri"/>
              </a:rPr>
              <a:t>0.64%</a:t>
            </a:r>
          </a:p>
        </p:txBody>
      </p:sp>
      <p:sp>
        <p:nvSpPr>
          <p:cNvPr id="36" name="Rectangle 35"/>
          <p:cNvSpPr/>
          <p:nvPr/>
        </p:nvSpPr>
        <p:spPr>
          <a:xfrm>
            <a:off x="274320" y="4754880"/>
            <a:ext cx="11064240" cy="50292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4320" y="4828032"/>
            <a:ext cx="2103120" cy="365760"/>
          </a:xfrm>
          <a:prstGeom prst="rect">
            <a:avLst/>
          </a:prstGeom>
          <a:noFill/>
        </p:spPr>
        <p:txBody>
          <a:bodyPr wrap="square">
            <a:spAutoFit/>
          </a:bodyPr>
          <a:lstStyle/>
          <a:p>
            <a:pPr algn="l"/>
            <a:r>
              <a:rPr sz="1000" b="0">
                <a:solidFill>
                  <a:srgbClr val="FFFFFF"/>
                </a:solidFill>
                <a:latin typeface="Calibri"/>
              </a:rPr>
              <a:t>Crise Dette Européenne</a:t>
            </a:r>
          </a:p>
        </p:txBody>
      </p:sp>
      <p:sp>
        <p:nvSpPr>
          <p:cNvPr id="38" name="TextBox 37"/>
          <p:cNvSpPr txBox="1"/>
          <p:nvPr/>
        </p:nvSpPr>
        <p:spPr>
          <a:xfrm>
            <a:off x="4114800" y="4828032"/>
            <a:ext cx="2103120" cy="365760"/>
          </a:xfrm>
          <a:prstGeom prst="rect">
            <a:avLst/>
          </a:prstGeom>
          <a:noFill/>
        </p:spPr>
        <p:txBody>
          <a:bodyPr wrap="square">
            <a:spAutoFit/>
          </a:bodyPr>
          <a:lstStyle/>
          <a:p>
            <a:pPr algn="l"/>
            <a:r>
              <a:rPr sz="1000" b="0">
                <a:solidFill>
                  <a:srgbClr val="FFFFFF"/>
                </a:solidFill>
                <a:latin typeface="Calibri"/>
              </a:rPr>
              <a:t>94j</a:t>
            </a:r>
          </a:p>
        </p:txBody>
      </p:sp>
      <p:sp>
        <p:nvSpPr>
          <p:cNvPr id="39" name="TextBox 38"/>
          <p:cNvSpPr txBox="1"/>
          <p:nvPr/>
        </p:nvSpPr>
        <p:spPr>
          <a:xfrm>
            <a:off x="6400800" y="4828032"/>
            <a:ext cx="2103120" cy="365760"/>
          </a:xfrm>
          <a:prstGeom prst="rect">
            <a:avLst/>
          </a:prstGeom>
          <a:noFill/>
        </p:spPr>
        <p:txBody>
          <a:bodyPr wrap="square">
            <a:spAutoFit/>
          </a:bodyPr>
          <a:lstStyle/>
          <a:p>
            <a:pPr algn="l"/>
            <a:r>
              <a:rPr sz="1000" b="0">
                <a:solidFill>
                  <a:srgbClr val="FF4444"/>
                </a:solidFill>
                <a:latin typeface="Calibri"/>
              </a:rPr>
              <a:t>-19.0%</a:t>
            </a:r>
          </a:p>
        </p:txBody>
      </p:sp>
      <p:sp>
        <p:nvSpPr>
          <p:cNvPr id="40" name="TextBox 39"/>
          <p:cNvSpPr txBox="1"/>
          <p:nvPr/>
        </p:nvSpPr>
        <p:spPr>
          <a:xfrm>
            <a:off x="8686800" y="4828032"/>
            <a:ext cx="2103120" cy="365760"/>
          </a:xfrm>
          <a:prstGeom prst="rect">
            <a:avLst/>
          </a:prstGeom>
          <a:noFill/>
        </p:spPr>
        <p:txBody>
          <a:bodyPr wrap="square">
            <a:spAutoFit/>
          </a:bodyPr>
          <a:lstStyle/>
          <a:p>
            <a:pPr algn="l"/>
            <a:r>
              <a:rPr sz="1000" b="0">
                <a:solidFill>
                  <a:srgbClr val="FF4444"/>
                </a:solidFill>
                <a:latin typeface="Calibri"/>
              </a:rPr>
              <a:t>-67.7%</a:t>
            </a:r>
          </a:p>
        </p:txBody>
      </p:sp>
      <p:sp>
        <p:nvSpPr>
          <p:cNvPr id="41" name="TextBox 40"/>
          <p:cNvSpPr txBox="1"/>
          <p:nvPr/>
        </p:nvSpPr>
        <p:spPr>
          <a:xfrm>
            <a:off x="10515600" y="4828032"/>
            <a:ext cx="2103120" cy="365760"/>
          </a:xfrm>
          <a:prstGeom prst="rect">
            <a:avLst/>
          </a:prstGeom>
          <a:noFill/>
        </p:spPr>
        <p:txBody>
          <a:bodyPr wrap="square">
            <a:spAutoFit/>
          </a:bodyPr>
          <a:lstStyle/>
          <a:p>
            <a:pPr algn="l"/>
            <a:r>
              <a:rPr sz="1000" b="0">
                <a:solidFill>
                  <a:srgbClr val="FF4444"/>
                </a:solidFill>
                <a:latin typeface="Calibri"/>
              </a:rPr>
              <a:t>-13.70%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0972800" cy="640080"/>
          </a:xfrm>
          <a:prstGeom prst="rect">
            <a:avLst/>
          </a:prstGeom>
          <a:noFill/>
        </p:spPr>
        <p:txBody>
          <a:bodyPr wrap="square">
            <a:spAutoFit/>
          </a:bodyPr>
          <a:lstStyle/>
          <a:p>
            <a:pPr algn="l"/>
            <a:r>
              <a:rPr sz="1800" b="1">
                <a:solidFill>
                  <a:srgbClr val="00D4FF"/>
                </a:solidFill>
                <a:latin typeface="Calibri"/>
              </a:rPr>
              <a:t>MODÈLES FACTORIELS — ORCL</a:t>
            </a:r>
          </a:p>
        </p:txBody>
      </p:sp>
      <p:sp>
        <p:nvSpPr>
          <p:cNvPr id="4" name="Rectangle 3"/>
          <p:cNvSpPr/>
          <p:nvPr/>
        </p:nvSpPr>
        <p:spPr>
          <a:xfrm>
            <a:off x="274320" y="868680"/>
            <a:ext cx="11064240" cy="1905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005840"/>
            <a:ext cx="11064240" cy="146304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97280"/>
            <a:ext cx="3657600" cy="365760"/>
          </a:xfrm>
          <a:prstGeom prst="rect">
            <a:avLst/>
          </a:prstGeom>
          <a:noFill/>
        </p:spPr>
        <p:txBody>
          <a:bodyPr wrap="square">
            <a:spAutoFit/>
          </a:bodyPr>
          <a:lstStyle/>
          <a:p>
            <a:pPr algn="l"/>
            <a:r>
              <a:rPr sz="1100" b="1">
                <a:solidFill>
                  <a:srgbClr val="00D4FF"/>
                </a:solidFill>
                <a:latin typeface="Calibri"/>
              </a:rPr>
              <a:t>CAPM</a:t>
            </a:r>
          </a:p>
        </p:txBody>
      </p:sp>
      <p:sp>
        <p:nvSpPr>
          <p:cNvPr id="7" name="TextBox 6"/>
          <p:cNvSpPr txBox="1"/>
          <p:nvPr/>
        </p:nvSpPr>
        <p:spPr>
          <a:xfrm>
            <a:off x="457200" y="1508760"/>
            <a:ext cx="3200400" cy="365760"/>
          </a:xfrm>
          <a:prstGeom prst="rect">
            <a:avLst/>
          </a:prstGeom>
          <a:noFill/>
        </p:spPr>
        <p:txBody>
          <a:bodyPr wrap="square">
            <a:spAutoFit/>
          </a:bodyPr>
          <a:lstStyle/>
          <a:p>
            <a:pPr algn="l"/>
            <a:r>
              <a:rPr sz="1300" b="1">
                <a:solidFill>
                  <a:srgbClr val="00FF88"/>
                </a:solidFill>
                <a:latin typeface="Calibri"/>
              </a:rPr>
              <a:t>Alpha : 0.18%</a:t>
            </a:r>
          </a:p>
        </p:txBody>
      </p:sp>
      <p:sp>
        <p:nvSpPr>
          <p:cNvPr id="8" name="TextBox 7"/>
          <p:cNvSpPr txBox="1"/>
          <p:nvPr/>
        </p:nvSpPr>
        <p:spPr>
          <a:xfrm>
            <a:off x="3840480" y="1508760"/>
            <a:ext cx="3200400" cy="365760"/>
          </a:xfrm>
          <a:prstGeom prst="rect">
            <a:avLst/>
          </a:prstGeom>
          <a:noFill/>
        </p:spPr>
        <p:txBody>
          <a:bodyPr wrap="square">
            <a:spAutoFit/>
          </a:bodyPr>
          <a:lstStyle/>
          <a:p>
            <a:pPr algn="l"/>
            <a:r>
              <a:rPr sz="1300" b="0">
                <a:solidFill>
                  <a:srgbClr val="FFFFFF"/>
                </a:solidFill>
                <a:latin typeface="Calibri"/>
              </a:rPr>
              <a:t>Beta Marché : 1.003</a:t>
            </a:r>
          </a:p>
        </p:txBody>
      </p:sp>
      <p:sp>
        <p:nvSpPr>
          <p:cNvPr id="9" name="TextBox 8"/>
          <p:cNvSpPr txBox="1"/>
          <p:nvPr/>
        </p:nvSpPr>
        <p:spPr>
          <a:xfrm>
            <a:off x="7315200" y="1508760"/>
            <a:ext cx="3200400" cy="365760"/>
          </a:xfrm>
          <a:prstGeom prst="rect">
            <a:avLst/>
          </a:prstGeom>
          <a:noFill/>
        </p:spPr>
        <p:txBody>
          <a:bodyPr wrap="square">
            <a:spAutoFit/>
          </a:bodyPr>
          <a:lstStyle/>
          <a:p>
            <a:pPr algn="l"/>
            <a:r>
              <a:rPr sz="1300" b="0">
                <a:solidFill>
                  <a:srgbClr val="FFFFFF"/>
                </a:solidFill>
                <a:latin typeface="Calibri"/>
              </a:rPr>
              <a:t>R² : 0.994</a:t>
            </a:r>
          </a:p>
        </p:txBody>
      </p:sp>
      <p:sp>
        <p:nvSpPr>
          <p:cNvPr id="10" name="TextBox 9"/>
          <p:cNvSpPr txBox="1"/>
          <p:nvPr/>
        </p:nvSpPr>
        <p:spPr>
          <a:xfrm>
            <a:off x="457200" y="1920240"/>
            <a:ext cx="10698480" cy="411480"/>
          </a:xfrm>
          <a:prstGeom prst="rect">
            <a:avLst/>
          </a:prstGeom>
          <a:noFill/>
        </p:spPr>
        <p:txBody>
          <a:bodyPr wrap="square">
            <a:spAutoFit/>
          </a:bodyPr>
          <a:lstStyle/>
          <a:p>
            <a:pPr algn="l"/>
            <a:r>
              <a:rPr sz="900" b="0">
                <a:solidFill>
                  <a:srgbClr val="8B949E"/>
                </a:solidFill>
                <a:latin typeface="Calibri"/>
              </a:rPr>
              <a:t>alpha: Génère de l'alpha  |  beta: Agressif (β&gt;1)  |  r_squared: Bien expliqué par le marché</a:t>
            </a:r>
          </a:p>
        </p:txBody>
      </p:sp>
      <p:sp>
        <p:nvSpPr>
          <p:cNvPr id="11" name="Rectangle 10"/>
          <p:cNvSpPr/>
          <p:nvPr/>
        </p:nvSpPr>
        <p:spPr>
          <a:xfrm>
            <a:off x="274320" y="2651760"/>
            <a:ext cx="11064240" cy="146304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743200"/>
            <a:ext cx="3657600" cy="365760"/>
          </a:xfrm>
          <a:prstGeom prst="rect">
            <a:avLst/>
          </a:prstGeom>
          <a:noFill/>
        </p:spPr>
        <p:txBody>
          <a:bodyPr wrap="square">
            <a:spAutoFit/>
          </a:bodyPr>
          <a:lstStyle/>
          <a:p>
            <a:pPr algn="l"/>
            <a:r>
              <a:rPr sz="1100" b="1">
                <a:solidFill>
                  <a:srgbClr val="00D4FF"/>
                </a:solidFill>
                <a:latin typeface="Calibri"/>
              </a:rPr>
              <a:t>FAMA-FRENCH 3 FACTEURS</a:t>
            </a:r>
          </a:p>
        </p:txBody>
      </p:sp>
      <p:sp>
        <p:nvSpPr>
          <p:cNvPr id="13" name="TextBox 12"/>
          <p:cNvSpPr txBox="1"/>
          <p:nvPr/>
        </p:nvSpPr>
        <p:spPr>
          <a:xfrm>
            <a:off x="457200" y="3154680"/>
            <a:ext cx="3200400" cy="365760"/>
          </a:xfrm>
          <a:prstGeom prst="rect">
            <a:avLst/>
          </a:prstGeom>
          <a:noFill/>
        </p:spPr>
        <p:txBody>
          <a:bodyPr wrap="square">
            <a:spAutoFit/>
          </a:bodyPr>
          <a:lstStyle/>
          <a:p>
            <a:pPr algn="l"/>
            <a:r>
              <a:rPr sz="1300" b="1">
                <a:solidFill>
                  <a:srgbClr val="FF4444"/>
                </a:solidFill>
                <a:latin typeface="Calibri"/>
              </a:rPr>
              <a:t>Alpha : -0.15%</a:t>
            </a:r>
          </a:p>
        </p:txBody>
      </p:sp>
      <p:sp>
        <p:nvSpPr>
          <p:cNvPr id="14" name="TextBox 13"/>
          <p:cNvSpPr txBox="1"/>
          <p:nvPr/>
        </p:nvSpPr>
        <p:spPr>
          <a:xfrm>
            <a:off x="3840480" y="3154680"/>
            <a:ext cx="3200400" cy="365760"/>
          </a:xfrm>
          <a:prstGeom prst="rect">
            <a:avLst/>
          </a:prstGeom>
          <a:noFill/>
        </p:spPr>
        <p:txBody>
          <a:bodyPr wrap="square">
            <a:spAutoFit/>
          </a:bodyPr>
          <a:lstStyle/>
          <a:p>
            <a:pPr algn="l"/>
            <a:r>
              <a:rPr sz="1300" b="0">
                <a:solidFill>
                  <a:srgbClr val="FFFFFF"/>
                </a:solidFill>
                <a:latin typeface="Calibri"/>
              </a:rPr>
              <a:t>Beta Marché : 1.003</a:t>
            </a:r>
          </a:p>
        </p:txBody>
      </p:sp>
      <p:sp>
        <p:nvSpPr>
          <p:cNvPr id="15" name="TextBox 14"/>
          <p:cNvSpPr txBox="1"/>
          <p:nvPr/>
        </p:nvSpPr>
        <p:spPr>
          <a:xfrm>
            <a:off x="7315200" y="3154680"/>
            <a:ext cx="3200400" cy="365760"/>
          </a:xfrm>
          <a:prstGeom prst="rect">
            <a:avLst/>
          </a:prstGeom>
          <a:noFill/>
        </p:spPr>
        <p:txBody>
          <a:bodyPr wrap="square">
            <a:spAutoFit/>
          </a:bodyPr>
          <a:lstStyle/>
          <a:p>
            <a:pPr algn="l"/>
            <a:r>
              <a:rPr sz="1300" b="0">
                <a:solidFill>
                  <a:srgbClr val="FFFFFF"/>
                </a:solidFill>
                <a:latin typeface="Calibri"/>
              </a:rPr>
              <a:t>R² : 0.994</a:t>
            </a:r>
          </a:p>
        </p:txBody>
      </p:sp>
      <p:sp>
        <p:nvSpPr>
          <p:cNvPr id="16" name="TextBox 15"/>
          <p:cNvSpPr txBox="1"/>
          <p:nvPr/>
        </p:nvSpPr>
        <p:spPr>
          <a:xfrm>
            <a:off x="457200" y="3566160"/>
            <a:ext cx="10698480" cy="411480"/>
          </a:xfrm>
          <a:prstGeom prst="rect">
            <a:avLst/>
          </a:prstGeom>
          <a:noFill/>
        </p:spPr>
        <p:txBody>
          <a:bodyPr wrap="square">
            <a:spAutoFit/>
          </a:bodyPr>
          <a:lstStyle/>
          <a:p>
            <a:pPr algn="l"/>
            <a:r>
              <a:rPr sz="900" b="0">
                <a:solidFill>
                  <a:srgbClr val="8B949E"/>
                </a:solidFill>
                <a:latin typeface="Calibri"/>
              </a:rPr>
              <a:t>alpha: Sous-performance  |  beta_mkt: Agressif  |  smb: Biais Small Cap</a:t>
            </a:r>
          </a:p>
        </p:txBody>
      </p:sp>
      <p:sp>
        <p:nvSpPr>
          <p:cNvPr id="17" name="Rectangle 16"/>
          <p:cNvSpPr/>
          <p:nvPr/>
        </p:nvSpPr>
        <p:spPr>
          <a:xfrm>
            <a:off x="274320" y="4297680"/>
            <a:ext cx="11064240" cy="146304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4389120"/>
            <a:ext cx="3657600" cy="365760"/>
          </a:xfrm>
          <a:prstGeom prst="rect">
            <a:avLst/>
          </a:prstGeom>
          <a:noFill/>
        </p:spPr>
        <p:txBody>
          <a:bodyPr wrap="square">
            <a:spAutoFit/>
          </a:bodyPr>
          <a:lstStyle/>
          <a:p>
            <a:pPr algn="l"/>
            <a:r>
              <a:rPr sz="1100" b="1">
                <a:solidFill>
                  <a:srgbClr val="00D4FF"/>
                </a:solidFill>
                <a:latin typeface="Calibri"/>
              </a:rPr>
              <a:t>FAMA-FRENCH 5 FACTEURS</a:t>
            </a:r>
          </a:p>
        </p:txBody>
      </p:sp>
      <p:sp>
        <p:nvSpPr>
          <p:cNvPr id="19" name="TextBox 18"/>
          <p:cNvSpPr txBox="1"/>
          <p:nvPr/>
        </p:nvSpPr>
        <p:spPr>
          <a:xfrm>
            <a:off x="457200" y="4800600"/>
            <a:ext cx="3200400" cy="365760"/>
          </a:xfrm>
          <a:prstGeom prst="rect">
            <a:avLst/>
          </a:prstGeom>
          <a:noFill/>
        </p:spPr>
        <p:txBody>
          <a:bodyPr wrap="square">
            <a:spAutoFit/>
          </a:bodyPr>
          <a:lstStyle/>
          <a:p>
            <a:pPr algn="l"/>
            <a:r>
              <a:rPr sz="1300" b="1">
                <a:solidFill>
                  <a:srgbClr val="00FF88"/>
                </a:solidFill>
                <a:latin typeface="Calibri"/>
              </a:rPr>
              <a:t>Alpha : 0.31%</a:t>
            </a:r>
          </a:p>
        </p:txBody>
      </p:sp>
      <p:sp>
        <p:nvSpPr>
          <p:cNvPr id="20" name="TextBox 19"/>
          <p:cNvSpPr txBox="1"/>
          <p:nvPr/>
        </p:nvSpPr>
        <p:spPr>
          <a:xfrm>
            <a:off x="3840480" y="4800600"/>
            <a:ext cx="3200400" cy="365760"/>
          </a:xfrm>
          <a:prstGeom prst="rect">
            <a:avLst/>
          </a:prstGeom>
          <a:noFill/>
        </p:spPr>
        <p:txBody>
          <a:bodyPr wrap="square">
            <a:spAutoFit/>
          </a:bodyPr>
          <a:lstStyle/>
          <a:p>
            <a:pPr algn="l"/>
            <a:r>
              <a:rPr sz="1300" b="0">
                <a:solidFill>
                  <a:srgbClr val="FFFFFF"/>
                </a:solidFill>
                <a:latin typeface="Calibri"/>
              </a:rPr>
              <a:t>Beta Marché : 1.003</a:t>
            </a:r>
          </a:p>
        </p:txBody>
      </p:sp>
      <p:sp>
        <p:nvSpPr>
          <p:cNvPr id="21" name="TextBox 20"/>
          <p:cNvSpPr txBox="1"/>
          <p:nvPr/>
        </p:nvSpPr>
        <p:spPr>
          <a:xfrm>
            <a:off x="7315200" y="4800600"/>
            <a:ext cx="3200400" cy="365760"/>
          </a:xfrm>
          <a:prstGeom prst="rect">
            <a:avLst/>
          </a:prstGeom>
          <a:noFill/>
        </p:spPr>
        <p:txBody>
          <a:bodyPr wrap="square">
            <a:spAutoFit/>
          </a:bodyPr>
          <a:lstStyle/>
          <a:p>
            <a:pPr algn="l"/>
            <a:r>
              <a:rPr sz="1300" b="0">
                <a:solidFill>
                  <a:srgbClr val="FFFFFF"/>
                </a:solidFill>
                <a:latin typeface="Calibri"/>
              </a:rPr>
              <a:t>R² : 0.994</a:t>
            </a:r>
          </a:p>
        </p:txBody>
      </p:sp>
      <p:sp>
        <p:nvSpPr>
          <p:cNvPr id="22" name="TextBox 21"/>
          <p:cNvSpPr txBox="1"/>
          <p:nvPr/>
        </p:nvSpPr>
        <p:spPr>
          <a:xfrm>
            <a:off x="457200" y="5212080"/>
            <a:ext cx="10698480" cy="411480"/>
          </a:xfrm>
          <a:prstGeom prst="rect">
            <a:avLst/>
          </a:prstGeom>
          <a:noFill/>
        </p:spPr>
        <p:txBody>
          <a:bodyPr wrap="square">
            <a:spAutoFit/>
          </a:bodyPr>
          <a:lstStyle/>
          <a:p>
            <a:pPr algn="l"/>
            <a:r>
              <a:rPr sz="900" b="0">
                <a:solidFill>
                  <a:srgbClr val="8B949E"/>
                </a:solidFill>
                <a:latin typeface="Calibri"/>
              </a:rPr>
              <a:t>alpha: Surperformance  |  beta_mkt: Agressif  |  smb: Biais Small Cap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0972800" cy="640080"/>
          </a:xfrm>
          <a:prstGeom prst="rect">
            <a:avLst/>
          </a:prstGeom>
          <a:noFill/>
        </p:spPr>
        <p:txBody>
          <a:bodyPr wrap="square">
            <a:spAutoFit/>
          </a:bodyPr>
          <a:lstStyle/>
          <a:p>
            <a:pPr algn="l"/>
            <a:r>
              <a:rPr sz="1800" b="1">
                <a:solidFill>
                  <a:srgbClr val="00D4FF"/>
                </a:solidFill>
                <a:latin typeface="Calibri"/>
              </a:rPr>
              <a:t>MONTE CARLO — ORCL</a:t>
            </a:r>
          </a:p>
        </p:txBody>
      </p:sp>
      <p:sp>
        <p:nvSpPr>
          <p:cNvPr id="4" name="Rectangle 3"/>
          <p:cNvSpPr/>
          <p:nvPr/>
        </p:nvSpPr>
        <p:spPr>
          <a:xfrm>
            <a:off x="274320" y="868680"/>
            <a:ext cx="11064240" cy="1905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005840"/>
            <a:ext cx="2651760" cy="128016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188720"/>
            <a:ext cx="2651760" cy="640080"/>
          </a:xfrm>
          <a:prstGeom prst="rect">
            <a:avLst/>
          </a:prstGeom>
          <a:noFill/>
        </p:spPr>
        <p:txBody>
          <a:bodyPr wrap="square">
            <a:spAutoFit/>
          </a:bodyPr>
          <a:lstStyle/>
          <a:p>
            <a:pPr algn="ctr"/>
            <a:r>
              <a:rPr sz="2200" b="1">
                <a:solidFill>
                  <a:srgbClr val="FFFFFF"/>
                </a:solidFill>
                <a:latin typeface="Calibri"/>
              </a:rPr>
              <a:t>163.00</a:t>
            </a:r>
          </a:p>
        </p:txBody>
      </p:sp>
      <p:sp>
        <p:nvSpPr>
          <p:cNvPr id="7" name="TextBox 6"/>
          <p:cNvSpPr txBox="1"/>
          <p:nvPr/>
        </p:nvSpPr>
        <p:spPr>
          <a:xfrm>
            <a:off x="274320" y="1783080"/>
            <a:ext cx="2651760" cy="411480"/>
          </a:xfrm>
          <a:prstGeom prst="rect">
            <a:avLst/>
          </a:prstGeom>
          <a:noFill/>
        </p:spPr>
        <p:txBody>
          <a:bodyPr wrap="square">
            <a:spAutoFit/>
          </a:bodyPr>
          <a:lstStyle/>
          <a:p>
            <a:pPr algn="ctr"/>
            <a:r>
              <a:rPr sz="1000" b="0">
                <a:solidFill>
                  <a:srgbClr val="8B949E"/>
                </a:solidFill>
                <a:latin typeface="Calibri"/>
              </a:rPr>
              <a:t>Prix Actuel</a:t>
            </a:r>
          </a:p>
        </p:txBody>
      </p:sp>
      <p:sp>
        <p:nvSpPr>
          <p:cNvPr id="8" name="Rectangle 7"/>
          <p:cNvSpPr/>
          <p:nvPr/>
        </p:nvSpPr>
        <p:spPr>
          <a:xfrm>
            <a:off x="3063239" y="1005840"/>
            <a:ext cx="2651760" cy="128016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63239" y="1188720"/>
            <a:ext cx="2651760" cy="640080"/>
          </a:xfrm>
          <a:prstGeom prst="rect">
            <a:avLst/>
          </a:prstGeom>
          <a:noFill/>
        </p:spPr>
        <p:txBody>
          <a:bodyPr wrap="square">
            <a:spAutoFit/>
          </a:bodyPr>
          <a:lstStyle/>
          <a:p>
            <a:pPr algn="ctr"/>
            <a:r>
              <a:rPr sz="2200" b="1">
                <a:solidFill>
                  <a:srgbClr val="FFD700"/>
                </a:solidFill>
                <a:latin typeface="Calibri"/>
              </a:rPr>
              <a:t>192.55</a:t>
            </a:r>
          </a:p>
        </p:txBody>
      </p:sp>
      <p:sp>
        <p:nvSpPr>
          <p:cNvPr id="10" name="TextBox 9"/>
          <p:cNvSpPr txBox="1"/>
          <p:nvPr/>
        </p:nvSpPr>
        <p:spPr>
          <a:xfrm>
            <a:off x="3063239" y="1783080"/>
            <a:ext cx="2651760" cy="411480"/>
          </a:xfrm>
          <a:prstGeom prst="rect">
            <a:avLst/>
          </a:prstGeom>
          <a:noFill/>
        </p:spPr>
        <p:txBody>
          <a:bodyPr wrap="square">
            <a:spAutoFit/>
          </a:bodyPr>
          <a:lstStyle/>
          <a:p>
            <a:pPr algn="ctr"/>
            <a:r>
              <a:rPr sz="1000" b="0">
                <a:solidFill>
                  <a:srgbClr val="8B949E"/>
                </a:solidFill>
                <a:latin typeface="Calibri"/>
              </a:rPr>
              <a:t>Prix Médian (1an)</a:t>
            </a:r>
          </a:p>
        </p:txBody>
      </p:sp>
      <p:sp>
        <p:nvSpPr>
          <p:cNvPr id="11" name="Rectangle 10"/>
          <p:cNvSpPr/>
          <p:nvPr/>
        </p:nvSpPr>
        <p:spPr>
          <a:xfrm>
            <a:off x="5852159" y="1005840"/>
            <a:ext cx="2651760" cy="128016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59" y="1188720"/>
            <a:ext cx="2651760" cy="640080"/>
          </a:xfrm>
          <a:prstGeom prst="rect">
            <a:avLst/>
          </a:prstGeom>
          <a:noFill/>
        </p:spPr>
        <p:txBody>
          <a:bodyPr wrap="square">
            <a:spAutoFit/>
          </a:bodyPr>
          <a:lstStyle/>
          <a:p>
            <a:pPr algn="ctr"/>
            <a:r>
              <a:rPr sz="2200" b="1">
                <a:solidFill>
                  <a:srgbClr val="00FF88"/>
                </a:solidFill>
                <a:latin typeface="Calibri"/>
              </a:rPr>
              <a:t>18.1%</a:t>
            </a:r>
          </a:p>
        </p:txBody>
      </p:sp>
      <p:sp>
        <p:nvSpPr>
          <p:cNvPr id="13" name="TextBox 12"/>
          <p:cNvSpPr txBox="1"/>
          <p:nvPr/>
        </p:nvSpPr>
        <p:spPr>
          <a:xfrm>
            <a:off x="5852159" y="1783080"/>
            <a:ext cx="2651760" cy="411480"/>
          </a:xfrm>
          <a:prstGeom prst="rect">
            <a:avLst/>
          </a:prstGeom>
          <a:noFill/>
        </p:spPr>
        <p:txBody>
          <a:bodyPr wrap="square">
            <a:spAutoFit/>
          </a:bodyPr>
          <a:lstStyle/>
          <a:p>
            <a:pPr algn="ctr"/>
            <a:r>
              <a:rPr sz="1000" b="0">
                <a:solidFill>
                  <a:srgbClr val="8B949E"/>
                </a:solidFill>
                <a:latin typeface="Calibri"/>
              </a:rPr>
              <a:t>Rendement Médian</a:t>
            </a:r>
          </a:p>
        </p:txBody>
      </p:sp>
      <p:sp>
        <p:nvSpPr>
          <p:cNvPr id="14" name="Rectangle 13"/>
          <p:cNvSpPr/>
          <p:nvPr/>
        </p:nvSpPr>
        <p:spPr>
          <a:xfrm>
            <a:off x="8641080" y="1005840"/>
            <a:ext cx="2651760" cy="128016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41080" y="1188720"/>
            <a:ext cx="2651760" cy="640080"/>
          </a:xfrm>
          <a:prstGeom prst="rect">
            <a:avLst/>
          </a:prstGeom>
          <a:noFill/>
        </p:spPr>
        <p:txBody>
          <a:bodyPr wrap="square">
            <a:spAutoFit/>
          </a:bodyPr>
          <a:lstStyle/>
          <a:p>
            <a:pPr algn="ctr"/>
            <a:r>
              <a:rPr sz="2200" b="1">
                <a:solidFill>
                  <a:srgbClr val="00FF88"/>
                </a:solidFill>
                <a:latin typeface="Calibri"/>
              </a:rPr>
              <a:t>59.4%</a:t>
            </a:r>
          </a:p>
        </p:txBody>
      </p:sp>
      <p:sp>
        <p:nvSpPr>
          <p:cNvPr id="16" name="TextBox 15"/>
          <p:cNvSpPr txBox="1"/>
          <p:nvPr/>
        </p:nvSpPr>
        <p:spPr>
          <a:xfrm>
            <a:off x="8641080" y="1783080"/>
            <a:ext cx="2651760" cy="411480"/>
          </a:xfrm>
          <a:prstGeom prst="rect">
            <a:avLst/>
          </a:prstGeom>
          <a:noFill/>
        </p:spPr>
        <p:txBody>
          <a:bodyPr wrap="square">
            <a:spAutoFit/>
          </a:bodyPr>
          <a:lstStyle/>
          <a:p>
            <a:pPr algn="ctr"/>
            <a:r>
              <a:rPr sz="1000" b="0">
                <a:solidFill>
                  <a:srgbClr val="8B949E"/>
                </a:solidFill>
                <a:latin typeface="Calibri"/>
              </a:rPr>
              <a:t>Probabilité Hausse</a:t>
            </a:r>
          </a:p>
        </p:txBody>
      </p:sp>
      <p:sp>
        <p:nvSpPr>
          <p:cNvPr id="17" name="Rectangle 16"/>
          <p:cNvSpPr/>
          <p:nvPr/>
        </p:nvSpPr>
        <p:spPr>
          <a:xfrm>
            <a:off x="274320" y="2423160"/>
            <a:ext cx="2651760" cy="128016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4320" y="2606040"/>
            <a:ext cx="2651760" cy="640080"/>
          </a:xfrm>
          <a:prstGeom prst="rect">
            <a:avLst/>
          </a:prstGeom>
          <a:noFill/>
        </p:spPr>
        <p:txBody>
          <a:bodyPr wrap="square">
            <a:spAutoFit/>
          </a:bodyPr>
          <a:lstStyle/>
          <a:p>
            <a:pPr algn="ctr"/>
            <a:r>
              <a:rPr sz="2200" b="1">
                <a:solidFill>
                  <a:srgbClr val="00FF88"/>
                </a:solidFill>
                <a:latin typeface="Calibri"/>
              </a:rPr>
              <a:t>54.0%</a:t>
            </a:r>
          </a:p>
        </p:txBody>
      </p:sp>
      <p:sp>
        <p:nvSpPr>
          <p:cNvPr id="19" name="TextBox 18"/>
          <p:cNvSpPr txBox="1"/>
          <p:nvPr/>
        </p:nvSpPr>
        <p:spPr>
          <a:xfrm>
            <a:off x="274320" y="3200400"/>
            <a:ext cx="2651760" cy="411480"/>
          </a:xfrm>
          <a:prstGeom prst="rect">
            <a:avLst/>
          </a:prstGeom>
          <a:noFill/>
        </p:spPr>
        <p:txBody>
          <a:bodyPr wrap="square">
            <a:spAutoFit/>
          </a:bodyPr>
          <a:lstStyle/>
          <a:p>
            <a:pPr algn="ctr"/>
            <a:r>
              <a:rPr sz="1000" b="0">
                <a:solidFill>
                  <a:srgbClr val="8B949E"/>
                </a:solidFill>
                <a:latin typeface="Calibri"/>
              </a:rPr>
              <a:t>Prob. +10%</a:t>
            </a:r>
          </a:p>
        </p:txBody>
      </p:sp>
      <p:sp>
        <p:nvSpPr>
          <p:cNvPr id="20" name="Rectangle 19"/>
          <p:cNvSpPr/>
          <p:nvPr/>
        </p:nvSpPr>
        <p:spPr>
          <a:xfrm>
            <a:off x="3063239" y="2423160"/>
            <a:ext cx="2651760" cy="128016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63239" y="2606040"/>
            <a:ext cx="2651760" cy="640080"/>
          </a:xfrm>
          <a:prstGeom prst="rect">
            <a:avLst/>
          </a:prstGeom>
          <a:noFill/>
        </p:spPr>
        <p:txBody>
          <a:bodyPr wrap="square">
            <a:spAutoFit/>
          </a:bodyPr>
          <a:lstStyle/>
          <a:p>
            <a:pPr algn="ctr"/>
            <a:r>
              <a:rPr sz="2200" b="1">
                <a:solidFill>
                  <a:srgbClr val="FF4444"/>
                </a:solidFill>
                <a:latin typeface="Calibri"/>
              </a:rPr>
              <a:t>36.0%</a:t>
            </a:r>
          </a:p>
        </p:txBody>
      </p:sp>
      <p:sp>
        <p:nvSpPr>
          <p:cNvPr id="22" name="TextBox 21"/>
          <p:cNvSpPr txBox="1"/>
          <p:nvPr/>
        </p:nvSpPr>
        <p:spPr>
          <a:xfrm>
            <a:off x="3063239" y="3200400"/>
            <a:ext cx="2651760" cy="411480"/>
          </a:xfrm>
          <a:prstGeom prst="rect">
            <a:avLst/>
          </a:prstGeom>
          <a:noFill/>
        </p:spPr>
        <p:txBody>
          <a:bodyPr wrap="square">
            <a:spAutoFit/>
          </a:bodyPr>
          <a:lstStyle/>
          <a:p>
            <a:pPr algn="ctr"/>
            <a:r>
              <a:rPr sz="1000" b="0">
                <a:solidFill>
                  <a:srgbClr val="8B949E"/>
                </a:solidFill>
                <a:latin typeface="Calibri"/>
              </a:rPr>
              <a:t>Prob. -10%</a:t>
            </a:r>
          </a:p>
        </p:txBody>
      </p:sp>
      <p:sp>
        <p:nvSpPr>
          <p:cNvPr id="23" name="Rectangle 22"/>
          <p:cNvSpPr/>
          <p:nvPr/>
        </p:nvSpPr>
        <p:spPr>
          <a:xfrm>
            <a:off x="5852159" y="2423160"/>
            <a:ext cx="2651760" cy="128016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52159" y="2606040"/>
            <a:ext cx="2651760" cy="640080"/>
          </a:xfrm>
          <a:prstGeom prst="rect">
            <a:avLst/>
          </a:prstGeom>
          <a:noFill/>
        </p:spPr>
        <p:txBody>
          <a:bodyPr wrap="square">
            <a:spAutoFit/>
          </a:bodyPr>
          <a:lstStyle/>
          <a:p>
            <a:pPr algn="ctr"/>
            <a:r>
              <a:rPr sz="2200" b="1">
                <a:solidFill>
                  <a:srgbClr val="FF4444"/>
                </a:solidFill>
                <a:latin typeface="Calibri"/>
              </a:rPr>
              <a:t>70.41</a:t>
            </a:r>
          </a:p>
        </p:txBody>
      </p:sp>
      <p:sp>
        <p:nvSpPr>
          <p:cNvPr id="25" name="TextBox 24"/>
          <p:cNvSpPr txBox="1"/>
          <p:nvPr/>
        </p:nvSpPr>
        <p:spPr>
          <a:xfrm>
            <a:off x="5852159" y="3200400"/>
            <a:ext cx="2651760" cy="411480"/>
          </a:xfrm>
          <a:prstGeom prst="rect">
            <a:avLst/>
          </a:prstGeom>
          <a:noFill/>
        </p:spPr>
        <p:txBody>
          <a:bodyPr wrap="square">
            <a:spAutoFit/>
          </a:bodyPr>
          <a:lstStyle/>
          <a:p>
            <a:pPr algn="ctr"/>
            <a:r>
              <a:rPr sz="1000" b="0">
                <a:solidFill>
                  <a:srgbClr val="8B949E"/>
                </a:solidFill>
                <a:latin typeface="Calibri"/>
              </a:rPr>
              <a:t>VaR 95% MC</a:t>
            </a:r>
          </a:p>
        </p:txBody>
      </p:sp>
      <p:sp>
        <p:nvSpPr>
          <p:cNvPr id="26" name="Rectangle 25"/>
          <p:cNvSpPr/>
          <p:nvPr/>
        </p:nvSpPr>
        <p:spPr>
          <a:xfrm>
            <a:off x="8641080" y="2423160"/>
            <a:ext cx="2651760" cy="128016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41080" y="2606040"/>
            <a:ext cx="2651760" cy="640080"/>
          </a:xfrm>
          <a:prstGeom prst="rect">
            <a:avLst/>
          </a:prstGeom>
          <a:noFill/>
        </p:spPr>
        <p:txBody>
          <a:bodyPr wrap="square">
            <a:spAutoFit/>
          </a:bodyPr>
          <a:lstStyle/>
          <a:p>
            <a:pPr algn="ctr"/>
            <a:r>
              <a:rPr sz="2200" b="1">
                <a:solidFill>
                  <a:srgbClr val="FFD700"/>
                </a:solidFill>
                <a:latin typeface="Calibri"/>
              </a:rPr>
              <a:t>61.6%</a:t>
            </a:r>
          </a:p>
        </p:txBody>
      </p:sp>
      <p:sp>
        <p:nvSpPr>
          <p:cNvPr id="28" name="TextBox 27"/>
          <p:cNvSpPr txBox="1"/>
          <p:nvPr/>
        </p:nvSpPr>
        <p:spPr>
          <a:xfrm>
            <a:off x="8641080" y="3200400"/>
            <a:ext cx="2651760" cy="411480"/>
          </a:xfrm>
          <a:prstGeom prst="rect">
            <a:avLst/>
          </a:prstGeom>
          <a:noFill/>
        </p:spPr>
        <p:txBody>
          <a:bodyPr wrap="square">
            <a:spAutoFit/>
          </a:bodyPr>
          <a:lstStyle/>
          <a:p>
            <a:pPr algn="ctr"/>
            <a:r>
              <a:rPr sz="1000" b="0">
                <a:solidFill>
                  <a:srgbClr val="8B949E"/>
                </a:solidFill>
                <a:latin typeface="Calibri"/>
              </a:rPr>
              <a:t>Volatilité Ann.</a:t>
            </a:r>
          </a:p>
        </p:txBody>
      </p:sp>
      <p:sp>
        <p:nvSpPr>
          <p:cNvPr id="29" name="TextBox 28"/>
          <p:cNvSpPr txBox="1"/>
          <p:nvPr/>
        </p:nvSpPr>
        <p:spPr>
          <a:xfrm>
            <a:off x="274320" y="6217920"/>
            <a:ext cx="11064240" cy="457200"/>
          </a:xfrm>
          <a:prstGeom prst="rect">
            <a:avLst/>
          </a:prstGeom>
          <a:noFill/>
        </p:spPr>
        <p:txBody>
          <a:bodyPr wrap="square">
            <a:spAutoFit/>
          </a:bodyPr>
          <a:lstStyle/>
          <a:p>
            <a:pPr algn="ctr"/>
            <a:r>
              <a:rPr sz="1000" b="0">
                <a:solidFill>
                  <a:srgbClr val="8B949E"/>
                </a:solidFill>
                <a:latin typeface="Calibri"/>
              </a:rPr>
              <a:t>Basé sur 500 simulations sur 252 jours — Modèle GBM (Geometric Brownian Motion)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0972800" cy="640080"/>
          </a:xfrm>
          <a:prstGeom prst="rect">
            <a:avLst/>
          </a:prstGeom>
          <a:noFill/>
        </p:spPr>
        <p:txBody>
          <a:bodyPr wrap="square">
            <a:spAutoFit/>
          </a:bodyPr>
          <a:lstStyle/>
          <a:p>
            <a:pPr algn="l"/>
            <a:r>
              <a:rPr sz="1800" b="1">
                <a:solidFill>
                  <a:srgbClr val="00D4FF"/>
                </a:solidFill>
                <a:latin typeface="Calibri"/>
              </a:rPr>
              <a:t>BACKTESTING — ORCL</a:t>
            </a:r>
          </a:p>
        </p:txBody>
      </p:sp>
      <p:sp>
        <p:nvSpPr>
          <p:cNvPr id="4" name="Rectangle 3"/>
          <p:cNvSpPr/>
          <p:nvPr/>
        </p:nvSpPr>
        <p:spPr>
          <a:xfrm>
            <a:off x="274320" y="868680"/>
            <a:ext cx="11064240" cy="1905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005840"/>
            <a:ext cx="2286000" cy="365760"/>
          </a:xfrm>
          <a:prstGeom prst="rect">
            <a:avLst/>
          </a:prstGeom>
          <a:noFill/>
        </p:spPr>
        <p:txBody>
          <a:bodyPr wrap="square">
            <a:spAutoFit/>
          </a:bodyPr>
          <a:lstStyle/>
          <a:p>
            <a:pPr algn="l"/>
            <a:r>
              <a:rPr sz="1000" b="1">
                <a:solidFill>
                  <a:srgbClr val="00D4FF"/>
                </a:solidFill>
                <a:latin typeface="Calibri"/>
              </a:rPr>
              <a:t>Stratégie</a:t>
            </a:r>
          </a:p>
        </p:txBody>
      </p:sp>
      <p:sp>
        <p:nvSpPr>
          <p:cNvPr id="6" name="TextBox 5"/>
          <p:cNvSpPr txBox="1"/>
          <p:nvPr/>
        </p:nvSpPr>
        <p:spPr>
          <a:xfrm>
            <a:off x="2926080" y="1005840"/>
            <a:ext cx="2286000" cy="365760"/>
          </a:xfrm>
          <a:prstGeom prst="rect">
            <a:avLst/>
          </a:prstGeom>
          <a:noFill/>
        </p:spPr>
        <p:txBody>
          <a:bodyPr wrap="square">
            <a:spAutoFit/>
          </a:bodyPr>
          <a:lstStyle/>
          <a:p>
            <a:pPr algn="l"/>
            <a:r>
              <a:rPr sz="1000" b="1">
                <a:solidFill>
                  <a:srgbClr val="00D4FF"/>
                </a:solidFill>
                <a:latin typeface="Calibri"/>
              </a:rPr>
              <a:t>Rendement</a:t>
            </a:r>
          </a:p>
        </p:txBody>
      </p:sp>
      <p:sp>
        <p:nvSpPr>
          <p:cNvPr id="7" name="TextBox 6"/>
          <p:cNvSpPr txBox="1"/>
          <p:nvPr/>
        </p:nvSpPr>
        <p:spPr>
          <a:xfrm>
            <a:off x="5029200" y="1005840"/>
            <a:ext cx="2286000" cy="365760"/>
          </a:xfrm>
          <a:prstGeom prst="rect">
            <a:avLst/>
          </a:prstGeom>
          <a:noFill/>
        </p:spPr>
        <p:txBody>
          <a:bodyPr wrap="square">
            <a:spAutoFit/>
          </a:bodyPr>
          <a:lstStyle/>
          <a:p>
            <a:pPr algn="l"/>
            <a:r>
              <a:rPr sz="1000" b="1">
                <a:solidFill>
                  <a:srgbClr val="00D4FF"/>
                </a:solidFill>
                <a:latin typeface="Calibri"/>
              </a:rPr>
              <a:t>Volatilité</a:t>
            </a:r>
          </a:p>
        </p:txBody>
      </p:sp>
      <p:sp>
        <p:nvSpPr>
          <p:cNvPr id="8" name="TextBox 7"/>
          <p:cNvSpPr txBox="1"/>
          <p:nvPr/>
        </p:nvSpPr>
        <p:spPr>
          <a:xfrm>
            <a:off x="6858000" y="1005840"/>
            <a:ext cx="2286000" cy="365760"/>
          </a:xfrm>
          <a:prstGeom prst="rect">
            <a:avLst/>
          </a:prstGeom>
          <a:noFill/>
        </p:spPr>
        <p:txBody>
          <a:bodyPr wrap="square">
            <a:spAutoFit/>
          </a:bodyPr>
          <a:lstStyle/>
          <a:p>
            <a:pPr algn="l"/>
            <a:r>
              <a:rPr sz="1000" b="1">
                <a:solidFill>
                  <a:srgbClr val="00D4FF"/>
                </a:solidFill>
                <a:latin typeface="Calibri"/>
              </a:rPr>
              <a:t>Sharpe</a:t>
            </a:r>
          </a:p>
        </p:txBody>
      </p:sp>
      <p:sp>
        <p:nvSpPr>
          <p:cNvPr id="9" name="TextBox 8"/>
          <p:cNvSpPr txBox="1"/>
          <p:nvPr/>
        </p:nvSpPr>
        <p:spPr>
          <a:xfrm>
            <a:off x="8686800" y="1005840"/>
            <a:ext cx="2286000" cy="365760"/>
          </a:xfrm>
          <a:prstGeom prst="rect">
            <a:avLst/>
          </a:prstGeom>
          <a:noFill/>
        </p:spPr>
        <p:txBody>
          <a:bodyPr wrap="square">
            <a:spAutoFit/>
          </a:bodyPr>
          <a:lstStyle/>
          <a:p>
            <a:pPr algn="l"/>
            <a:r>
              <a:rPr sz="1000" b="1">
                <a:solidFill>
                  <a:srgbClr val="00D4FF"/>
                </a:solidFill>
                <a:latin typeface="Calibri"/>
              </a:rPr>
              <a:t>Drawdown</a:t>
            </a:r>
          </a:p>
        </p:txBody>
      </p:sp>
      <p:sp>
        <p:nvSpPr>
          <p:cNvPr id="10" name="TextBox 9"/>
          <p:cNvSpPr txBox="1"/>
          <p:nvPr/>
        </p:nvSpPr>
        <p:spPr>
          <a:xfrm>
            <a:off x="10332720" y="1005840"/>
            <a:ext cx="2286000" cy="365760"/>
          </a:xfrm>
          <a:prstGeom prst="rect">
            <a:avLst/>
          </a:prstGeom>
          <a:noFill/>
        </p:spPr>
        <p:txBody>
          <a:bodyPr wrap="square">
            <a:spAutoFit/>
          </a:bodyPr>
          <a:lstStyle/>
          <a:p>
            <a:pPr algn="l"/>
            <a:r>
              <a:rPr sz="1000" b="1">
                <a:solidFill>
                  <a:srgbClr val="00D4FF"/>
                </a:solidFill>
                <a:latin typeface="Calibri"/>
              </a:rPr>
              <a:t>Win Rate</a:t>
            </a:r>
          </a:p>
        </p:txBody>
      </p:sp>
      <p:sp>
        <p:nvSpPr>
          <p:cNvPr id="11" name="Rectangle 10"/>
          <p:cNvSpPr/>
          <p:nvPr/>
        </p:nvSpPr>
        <p:spPr>
          <a:xfrm>
            <a:off x="274320" y="1463040"/>
            <a:ext cx="11430000" cy="59436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1572768"/>
            <a:ext cx="2103120" cy="411480"/>
          </a:xfrm>
          <a:prstGeom prst="rect">
            <a:avLst/>
          </a:prstGeom>
          <a:noFill/>
        </p:spPr>
        <p:txBody>
          <a:bodyPr wrap="square">
            <a:spAutoFit/>
          </a:bodyPr>
          <a:lstStyle/>
          <a:p>
            <a:pPr algn="l"/>
            <a:r>
              <a:rPr sz="1100" b="1">
                <a:solidFill>
                  <a:srgbClr val="FFFFFF"/>
                </a:solidFill>
                <a:latin typeface="Calibri"/>
              </a:rPr>
              <a:t>Buy &amp; Hold</a:t>
            </a:r>
          </a:p>
        </p:txBody>
      </p:sp>
      <p:sp>
        <p:nvSpPr>
          <p:cNvPr id="13" name="TextBox 12"/>
          <p:cNvSpPr txBox="1"/>
          <p:nvPr/>
        </p:nvSpPr>
        <p:spPr>
          <a:xfrm>
            <a:off x="2926080" y="1572768"/>
            <a:ext cx="2103120" cy="411480"/>
          </a:xfrm>
          <a:prstGeom prst="rect">
            <a:avLst/>
          </a:prstGeom>
          <a:noFill/>
        </p:spPr>
        <p:txBody>
          <a:bodyPr wrap="square">
            <a:spAutoFit/>
          </a:bodyPr>
          <a:lstStyle/>
          <a:p>
            <a:pPr algn="l"/>
            <a:r>
              <a:rPr sz="1100" b="0">
                <a:solidFill>
                  <a:srgbClr val="00FF88"/>
                </a:solidFill>
                <a:latin typeface="Calibri"/>
              </a:rPr>
              <a:t>22.9%</a:t>
            </a:r>
          </a:p>
        </p:txBody>
      </p:sp>
      <p:sp>
        <p:nvSpPr>
          <p:cNvPr id="14" name="TextBox 13"/>
          <p:cNvSpPr txBox="1"/>
          <p:nvPr/>
        </p:nvSpPr>
        <p:spPr>
          <a:xfrm>
            <a:off x="5029200" y="1572768"/>
            <a:ext cx="2103120" cy="411480"/>
          </a:xfrm>
          <a:prstGeom prst="rect">
            <a:avLst/>
          </a:prstGeom>
          <a:noFill/>
        </p:spPr>
        <p:txBody>
          <a:bodyPr wrap="square">
            <a:spAutoFit/>
          </a:bodyPr>
          <a:lstStyle/>
          <a:p>
            <a:pPr algn="l"/>
            <a:r>
              <a:rPr sz="1100" b="0">
                <a:solidFill>
                  <a:srgbClr val="FFD700"/>
                </a:solidFill>
                <a:latin typeface="Calibri"/>
              </a:rPr>
              <a:t>61.6%</a:t>
            </a:r>
          </a:p>
        </p:txBody>
      </p:sp>
      <p:sp>
        <p:nvSpPr>
          <p:cNvPr id="15" name="TextBox 14"/>
          <p:cNvSpPr txBox="1"/>
          <p:nvPr/>
        </p:nvSpPr>
        <p:spPr>
          <a:xfrm>
            <a:off x="6858000" y="1572768"/>
            <a:ext cx="2103120" cy="411480"/>
          </a:xfrm>
          <a:prstGeom prst="rect">
            <a:avLst/>
          </a:prstGeom>
          <a:noFill/>
        </p:spPr>
        <p:txBody>
          <a:bodyPr wrap="square">
            <a:spAutoFit/>
          </a:bodyPr>
          <a:lstStyle/>
          <a:p>
            <a:pPr algn="l"/>
            <a:r>
              <a:rPr sz="1100" b="0">
                <a:solidFill>
                  <a:srgbClr val="FFD700"/>
                </a:solidFill>
                <a:latin typeface="Calibri"/>
              </a:rPr>
              <a:t>0.592</a:t>
            </a:r>
          </a:p>
        </p:txBody>
      </p:sp>
      <p:sp>
        <p:nvSpPr>
          <p:cNvPr id="16" name="TextBox 15"/>
          <p:cNvSpPr txBox="1"/>
          <p:nvPr/>
        </p:nvSpPr>
        <p:spPr>
          <a:xfrm>
            <a:off x="8686800" y="1572768"/>
            <a:ext cx="2103120" cy="411480"/>
          </a:xfrm>
          <a:prstGeom prst="rect">
            <a:avLst/>
          </a:prstGeom>
          <a:noFill/>
        </p:spPr>
        <p:txBody>
          <a:bodyPr wrap="square">
            <a:spAutoFit/>
          </a:bodyPr>
          <a:lstStyle/>
          <a:p>
            <a:pPr algn="l"/>
            <a:r>
              <a:rPr sz="1100" b="0">
                <a:solidFill>
                  <a:srgbClr val="FF4444"/>
                </a:solidFill>
                <a:latin typeface="Calibri"/>
              </a:rPr>
              <a:t>-58.2%</a:t>
            </a:r>
          </a:p>
        </p:txBody>
      </p:sp>
      <p:sp>
        <p:nvSpPr>
          <p:cNvPr id="17" name="TextBox 16"/>
          <p:cNvSpPr txBox="1"/>
          <p:nvPr/>
        </p:nvSpPr>
        <p:spPr>
          <a:xfrm>
            <a:off x="10332720" y="1572768"/>
            <a:ext cx="2103120" cy="411480"/>
          </a:xfrm>
          <a:prstGeom prst="rect">
            <a:avLst/>
          </a:prstGeom>
          <a:noFill/>
        </p:spPr>
        <p:txBody>
          <a:bodyPr wrap="square">
            <a:spAutoFit/>
          </a:bodyPr>
          <a:lstStyle/>
          <a:p>
            <a:pPr algn="l"/>
            <a:r>
              <a:rPr sz="1100" b="0">
                <a:solidFill>
                  <a:srgbClr val="FFD700"/>
                </a:solidFill>
                <a:latin typeface="Calibri"/>
              </a:rPr>
              <a:t>51.8%</a:t>
            </a:r>
          </a:p>
        </p:txBody>
      </p:sp>
      <p:sp>
        <p:nvSpPr>
          <p:cNvPr id="18" name="Rectangle 17"/>
          <p:cNvSpPr/>
          <p:nvPr/>
        </p:nvSpPr>
        <p:spPr>
          <a:xfrm>
            <a:off x="274320" y="2148840"/>
            <a:ext cx="11430000" cy="59436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2258568"/>
            <a:ext cx="2103120" cy="411480"/>
          </a:xfrm>
          <a:prstGeom prst="rect">
            <a:avLst/>
          </a:prstGeom>
          <a:noFill/>
        </p:spPr>
        <p:txBody>
          <a:bodyPr wrap="square">
            <a:spAutoFit/>
          </a:bodyPr>
          <a:lstStyle/>
          <a:p>
            <a:pPr algn="l"/>
            <a:r>
              <a:rPr sz="1100" b="0">
                <a:solidFill>
                  <a:srgbClr val="FFFFFF"/>
                </a:solidFill>
                <a:latin typeface="Calibri"/>
              </a:rPr>
              <a:t>Momentum (20j)</a:t>
            </a:r>
          </a:p>
        </p:txBody>
      </p:sp>
      <p:sp>
        <p:nvSpPr>
          <p:cNvPr id="20" name="TextBox 19"/>
          <p:cNvSpPr txBox="1"/>
          <p:nvPr/>
        </p:nvSpPr>
        <p:spPr>
          <a:xfrm>
            <a:off x="2926080" y="2258568"/>
            <a:ext cx="2103120" cy="411480"/>
          </a:xfrm>
          <a:prstGeom prst="rect">
            <a:avLst/>
          </a:prstGeom>
          <a:noFill/>
        </p:spPr>
        <p:txBody>
          <a:bodyPr wrap="square">
            <a:spAutoFit/>
          </a:bodyPr>
          <a:lstStyle/>
          <a:p>
            <a:pPr algn="l"/>
            <a:r>
              <a:rPr sz="1100" b="0">
                <a:solidFill>
                  <a:srgbClr val="FF4444"/>
                </a:solidFill>
                <a:latin typeface="Calibri"/>
              </a:rPr>
              <a:t>-33.2%</a:t>
            </a:r>
          </a:p>
        </p:txBody>
      </p:sp>
      <p:sp>
        <p:nvSpPr>
          <p:cNvPr id="21" name="TextBox 20"/>
          <p:cNvSpPr txBox="1"/>
          <p:nvPr/>
        </p:nvSpPr>
        <p:spPr>
          <a:xfrm>
            <a:off x="5029200" y="2258568"/>
            <a:ext cx="2103120" cy="411480"/>
          </a:xfrm>
          <a:prstGeom prst="rect">
            <a:avLst/>
          </a:prstGeom>
          <a:noFill/>
        </p:spPr>
        <p:txBody>
          <a:bodyPr wrap="square">
            <a:spAutoFit/>
          </a:bodyPr>
          <a:lstStyle/>
          <a:p>
            <a:pPr algn="l"/>
            <a:r>
              <a:rPr sz="1100" b="0">
                <a:solidFill>
                  <a:srgbClr val="FFD700"/>
                </a:solidFill>
                <a:latin typeface="Calibri"/>
              </a:rPr>
              <a:t>60.5%</a:t>
            </a:r>
          </a:p>
        </p:txBody>
      </p:sp>
      <p:sp>
        <p:nvSpPr>
          <p:cNvPr id="22" name="TextBox 21"/>
          <p:cNvSpPr txBox="1"/>
          <p:nvPr/>
        </p:nvSpPr>
        <p:spPr>
          <a:xfrm>
            <a:off x="6858000" y="2258568"/>
            <a:ext cx="2103120" cy="411480"/>
          </a:xfrm>
          <a:prstGeom prst="rect">
            <a:avLst/>
          </a:prstGeom>
          <a:noFill/>
        </p:spPr>
        <p:txBody>
          <a:bodyPr wrap="square">
            <a:spAutoFit/>
          </a:bodyPr>
          <a:lstStyle/>
          <a:p>
            <a:pPr algn="l"/>
            <a:r>
              <a:rPr sz="1100" b="0">
                <a:solidFill>
                  <a:srgbClr val="FF4444"/>
                </a:solidFill>
                <a:latin typeface="Calibri"/>
              </a:rPr>
              <a:t>-0.372</a:t>
            </a:r>
          </a:p>
        </p:txBody>
      </p:sp>
      <p:sp>
        <p:nvSpPr>
          <p:cNvPr id="23" name="TextBox 22"/>
          <p:cNvSpPr txBox="1"/>
          <p:nvPr/>
        </p:nvSpPr>
        <p:spPr>
          <a:xfrm>
            <a:off x="8686800" y="2258568"/>
            <a:ext cx="2103120" cy="411480"/>
          </a:xfrm>
          <a:prstGeom prst="rect">
            <a:avLst/>
          </a:prstGeom>
          <a:noFill/>
        </p:spPr>
        <p:txBody>
          <a:bodyPr wrap="square">
            <a:spAutoFit/>
          </a:bodyPr>
          <a:lstStyle/>
          <a:p>
            <a:pPr algn="l"/>
            <a:r>
              <a:rPr sz="1100" b="0">
                <a:solidFill>
                  <a:srgbClr val="FF4444"/>
                </a:solidFill>
                <a:latin typeface="Calibri"/>
              </a:rPr>
              <a:t>-59.6%</a:t>
            </a:r>
          </a:p>
        </p:txBody>
      </p:sp>
      <p:sp>
        <p:nvSpPr>
          <p:cNvPr id="24" name="TextBox 23"/>
          <p:cNvSpPr txBox="1"/>
          <p:nvPr/>
        </p:nvSpPr>
        <p:spPr>
          <a:xfrm>
            <a:off x="10332720" y="2258568"/>
            <a:ext cx="2103120" cy="411480"/>
          </a:xfrm>
          <a:prstGeom prst="rect">
            <a:avLst/>
          </a:prstGeom>
          <a:noFill/>
        </p:spPr>
        <p:txBody>
          <a:bodyPr wrap="square">
            <a:spAutoFit/>
          </a:bodyPr>
          <a:lstStyle/>
          <a:p>
            <a:pPr algn="l"/>
            <a:r>
              <a:rPr sz="1100" b="0">
                <a:solidFill>
                  <a:srgbClr val="FFD700"/>
                </a:solidFill>
                <a:latin typeface="Calibri"/>
              </a:rPr>
              <a:t>46.6%</a:t>
            </a:r>
          </a:p>
        </p:txBody>
      </p:sp>
      <p:sp>
        <p:nvSpPr>
          <p:cNvPr id="25" name="Rectangle 24"/>
          <p:cNvSpPr/>
          <p:nvPr/>
        </p:nvSpPr>
        <p:spPr>
          <a:xfrm>
            <a:off x="274320" y="2834640"/>
            <a:ext cx="11430000" cy="59436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4320" y="2944368"/>
            <a:ext cx="2103120" cy="411480"/>
          </a:xfrm>
          <a:prstGeom prst="rect">
            <a:avLst/>
          </a:prstGeom>
          <a:noFill/>
        </p:spPr>
        <p:txBody>
          <a:bodyPr wrap="square">
            <a:spAutoFit/>
          </a:bodyPr>
          <a:lstStyle/>
          <a:p>
            <a:pPr algn="l"/>
            <a:r>
              <a:rPr sz="1100" b="0">
                <a:solidFill>
                  <a:srgbClr val="FFFFFF"/>
                </a:solidFill>
                <a:latin typeface="Calibri"/>
              </a:rPr>
              <a:t>Mean Reversion</a:t>
            </a:r>
          </a:p>
        </p:txBody>
      </p:sp>
      <p:sp>
        <p:nvSpPr>
          <p:cNvPr id="27" name="TextBox 26"/>
          <p:cNvSpPr txBox="1"/>
          <p:nvPr/>
        </p:nvSpPr>
        <p:spPr>
          <a:xfrm>
            <a:off x="2926080" y="2944368"/>
            <a:ext cx="2103120" cy="411480"/>
          </a:xfrm>
          <a:prstGeom prst="rect">
            <a:avLst/>
          </a:prstGeom>
          <a:noFill/>
        </p:spPr>
        <p:txBody>
          <a:bodyPr wrap="square">
            <a:spAutoFit/>
          </a:bodyPr>
          <a:lstStyle/>
          <a:p>
            <a:pPr algn="l"/>
            <a:r>
              <a:rPr sz="1100" b="0">
                <a:solidFill>
                  <a:srgbClr val="00FF88"/>
                </a:solidFill>
                <a:latin typeface="Calibri"/>
              </a:rPr>
              <a:t>5.4%</a:t>
            </a:r>
          </a:p>
        </p:txBody>
      </p:sp>
      <p:sp>
        <p:nvSpPr>
          <p:cNvPr id="28" name="TextBox 27"/>
          <p:cNvSpPr txBox="1"/>
          <p:nvPr/>
        </p:nvSpPr>
        <p:spPr>
          <a:xfrm>
            <a:off x="5029200" y="2944368"/>
            <a:ext cx="2103120" cy="411480"/>
          </a:xfrm>
          <a:prstGeom prst="rect">
            <a:avLst/>
          </a:prstGeom>
          <a:noFill/>
        </p:spPr>
        <p:txBody>
          <a:bodyPr wrap="square">
            <a:spAutoFit/>
          </a:bodyPr>
          <a:lstStyle/>
          <a:p>
            <a:pPr algn="l"/>
            <a:r>
              <a:rPr sz="1100" b="0">
                <a:solidFill>
                  <a:srgbClr val="FFD700"/>
                </a:solidFill>
                <a:latin typeface="Calibri"/>
              </a:rPr>
              <a:t>60.5%</a:t>
            </a:r>
          </a:p>
        </p:txBody>
      </p:sp>
      <p:sp>
        <p:nvSpPr>
          <p:cNvPr id="29" name="TextBox 28"/>
          <p:cNvSpPr txBox="1"/>
          <p:nvPr/>
        </p:nvSpPr>
        <p:spPr>
          <a:xfrm>
            <a:off x="6858000" y="2944368"/>
            <a:ext cx="2103120" cy="411480"/>
          </a:xfrm>
          <a:prstGeom prst="rect">
            <a:avLst/>
          </a:prstGeom>
          <a:noFill/>
        </p:spPr>
        <p:txBody>
          <a:bodyPr wrap="square">
            <a:spAutoFit/>
          </a:bodyPr>
          <a:lstStyle/>
          <a:p>
            <a:pPr algn="l"/>
            <a:r>
              <a:rPr sz="1100" b="0">
                <a:solidFill>
                  <a:srgbClr val="FFD700"/>
                </a:solidFill>
                <a:latin typeface="Calibri"/>
              </a:rPr>
              <a:t>0.337</a:t>
            </a:r>
          </a:p>
        </p:txBody>
      </p:sp>
      <p:sp>
        <p:nvSpPr>
          <p:cNvPr id="30" name="TextBox 29"/>
          <p:cNvSpPr txBox="1"/>
          <p:nvPr/>
        </p:nvSpPr>
        <p:spPr>
          <a:xfrm>
            <a:off x="8686800" y="2944368"/>
            <a:ext cx="2103120" cy="411480"/>
          </a:xfrm>
          <a:prstGeom prst="rect">
            <a:avLst/>
          </a:prstGeom>
          <a:noFill/>
        </p:spPr>
        <p:txBody>
          <a:bodyPr wrap="square">
            <a:spAutoFit/>
          </a:bodyPr>
          <a:lstStyle/>
          <a:p>
            <a:pPr algn="l"/>
            <a:r>
              <a:rPr sz="1100" b="0">
                <a:solidFill>
                  <a:srgbClr val="FF4444"/>
                </a:solidFill>
                <a:latin typeface="Calibri"/>
              </a:rPr>
              <a:t>-41.9%</a:t>
            </a:r>
          </a:p>
        </p:txBody>
      </p:sp>
      <p:sp>
        <p:nvSpPr>
          <p:cNvPr id="31" name="TextBox 30"/>
          <p:cNvSpPr txBox="1"/>
          <p:nvPr/>
        </p:nvSpPr>
        <p:spPr>
          <a:xfrm>
            <a:off x="10332720" y="2944368"/>
            <a:ext cx="2103120" cy="411480"/>
          </a:xfrm>
          <a:prstGeom prst="rect">
            <a:avLst/>
          </a:prstGeom>
          <a:noFill/>
        </p:spPr>
        <p:txBody>
          <a:bodyPr wrap="square">
            <a:spAutoFit/>
          </a:bodyPr>
          <a:lstStyle/>
          <a:p>
            <a:pPr algn="l"/>
            <a:r>
              <a:rPr sz="1100" b="0">
                <a:solidFill>
                  <a:srgbClr val="FF4444"/>
                </a:solidFill>
                <a:latin typeface="Calibri"/>
              </a:rPr>
              <a:t>44.2%</a:t>
            </a:r>
          </a:p>
        </p:txBody>
      </p:sp>
      <p:sp>
        <p:nvSpPr>
          <p:cNvPr id="32" name="Rectangle 31"/>
          <p:cNvSpPr/>
          <p:nvPr/>
        </p:nvSpPr>
        <p:spPr>
          <a:xfrm>
            <a:off x="274320" y="3520440"/>
            <a:ext cx="11430000" cy="594360"/>
          </a:xfrm>
          <a:prstGeom prst="rect">
            <a:avLst/>
          </a:prstGeom>
          <a:solidFill>
            <a:srgbClr val="161B22"/>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4320" y="3630168"/>
            <a:ext cx="2103120" cy="411480"/>
          </a:xfrm>
          <a:prstGeom prst="rect">
            <a:avLst/>
          </a:prstGeom>
          <a:noFill/>
        </p:spPr>
        <p:txBody>
          <a:bodyPr wrap="square">
            <a:spAutoFit/>
          </a:bodyPr>
          <a:lstStyle/>
          <a:p>
            <a:pPr algn="l"/>
            <a:r>
              <a:rPr sz="1100" b="0">
                <a:solidFill>
                  <a:srgbClr val="FFFFFF"/>
                </a:solidFill>
                <a:latin typeface="Calibri"/>
              </a:rPr>
              <a:t>MA Crossover (20/50)</a:t>
            </a:r>
          </a:p>
        </p:txBody>
      </p:sp>
      <p:sp>
        <p:nvSpPr>
          <p:cNvPr id="34" name="TextBox 33"/>
          <p:cNvSpPr txBox="1"/>
          <p:nvPr/>
        </p:nvSpPr>
        <p:spPr>
          <a:xfrm>
            <a:off x="2926080" y="3630168"/>
            <a:ext cx="2103120" cy="411480"/>
          </a:xfrm>
          <a:prstGeom prst="rect">
            <a:avLst/>
          </a:prstGeom>
          <a:noFill/>
        </p:spPr>
        <p:txBody>
          <a:bodyPr wrap="square">
            <a:spAutoFit/>
          </a:bodyPr>
          <a:lstStyle/>
          <a:p>
            <a:pPr algn="l"/>
            <a:r>
              <a:rPr sz="1100" b="0">
                <a:solidFill>
                  <a:srgbClr val="FF4444"/>
                </a:solidFill>
                <a:latin typeface="Calibri"/>
              </a:rPr>
              <a:t>-24.7%</a:t>
            </a:r>
          </a:p>
        </p:txBody>
      </p:sp>
      <p:sp>
        <p:nvSpPr>
          <p:cNvPr id="35" name="TextBox 34"/>
          <p:cNvSpPr txBox="1"/>
          <p:nvPr/>
        </p:nvSpPr>
        <p:spPr>
          <a:xfrm>
            <a:off x="5029200" y="3630168"/>
            <a:ext cx="2103120" cy="411480"/>
          </a:xfrm>
          <a:prstGeom prst="rect">
            <a:avLst/>
          </a:prstGeom>
          <a:noFill/>
        </p:spPr>
        <p:txBody>
          <a:bodyPr wrap="square">
            <a:spAutoFit/>
          </a:bodyPr>
          <a:lstStyle/>
          <a:p>
            <a:pPr algn="l"/>
            <a:r>
              <a:rPr sz="1100" b="0">
                <a:solidFill>
                  <a:srgbClr val="FFD700"/>
                </a:solidFill>
                <a:latin typeface="Calibri"/>
              </a:rPr>
              <a:t>57.8%</a:t>
            </a:r>
          </a:p>
        </p:txBody>
      </p:sp>
      <p:sp>
        <p:nvSpPr>
          <p:cNvPr id="36" name="TextBox 35"/>
          <p:cNvSpPr txBox="1"/>
          <p:nvPr/>
        </p:nvSpPr>
        <p:spPr>
          <a:xfrm>
            <a:off x="6858000" y="3630168"/>
            <a:ext cx="2103120" cy="411480"/>
          </a:xfrm>
          <a:prstGeom prst="rect">
            <a:avLst/>
          </a:prstGeom>
          <a:noFill/>
        </p:spPr>
        <p:txBody>
          <a:bodyPr wrap="square">
            <a:spAutoFit/>
          </a:bodyPr>
          <a:lstStyle/>
          <a:p>
            <a:pPr algn="l"/>
            <a:r>
              <a:rPr sz="1100" b="0">
                <a:solidFill>
                  <a:srgbClr val="FF4444"/>
                </a:solidFill>
                <a:latin typeface="Calibri"/>
              </a:rPr>
              <a:t>-0.205</a:t>
            </a:r>
          </a:p>
        </p:txBody>
      </p:sp>
      <p:sp>
        <p:nvSpPr>
          <p:cNvPr id="37" name="TextBox 36"/>
          <p:cNvSpPr txBox="1"/>
          <p:nvPr/>
        </p:nvSpPr>
        <p:spPr>
          <a:xfrm>
            <a:off x="8686800" y="3630168"/>
            <a:ext cx="2103120" cy="411480"/>
          </a:xfrm>
          <a:prstGeom prst="rect">
            <a:avLst/>
          </a:prstGeom>
          <a:noFill/>
        </p:spPr>
        <p:txBody>
          <a:bodyPr wrap="square">
            <a:spAutoFit/>
          </a:bodyPr>
          <a:lstStyle/>
          <a:p>
            <a:pPr algn="l"/>
            <a:r>
              <a:rPr sz="1100" b="0">
                <a:solidFill>
                  <a:srgbClr val="FF4444"/>
                </a:solidFill>
                <a:latin typeface="Calibri"/>
              </a:rPr>
              <a:t>-52.8%</a:t>
            </a:r>
          </a:p>
        </p:txBody>
      </p:sp>
      <p:sp>
        <p:nvSpPr>
          <p:cNvPr id="38" name="TextBox 37"/>
          <p:cNvSpPr txBox="1"/>
          <p:nvPr/>
        </p:nvSpPr>
        <p:spPr>
          <a:xfrm>
            <a:off x="10332720" y="3630168"/>
            <a:ext cx="2103120" cy="411480"/>
          </a:xfrm>
          <a:prstGeom prst="rect">
            <a:avLst/>
          </a:prstGeom>
          <a:noFill/>
        </p:spPr>
        <p:txBody>
          <a:bodyPr wrap="square">
            <a:spAutoFit/>
          </a:bodyPr>
          <a:lstStyle/>
          <a:p>
            <a:pPr algn="l"/>
            <a:r>
              <a:rPr sz="1100" b="0">
                <a:solidFill>
                  <a:srgbClr val="FF4444"/>
                </a:solidFill>
                <a:latin typeface="Calibri"/>
              </a:rPr>
              <a:t>41.8%</a:t>
            </a:r>
          </a:p>
        </p:txBody>
      </p:sp>
      <p:sp>
        <p:nvSpPr>
          <p:cNvPr id="39" name="TextBox 38"/>
          <p:cNvSpPr txBox="1"/>
          <p:nvPr/>
        </p:nvSpPr>
        <p:spPr>
          <a:xfrm>
            <a:off x="274320" y="6217920"/>
            <a:ext cx="11064240" cy="411480"/>
          </a:xfrm>
          <a:prstGeom prst="rect">
            <a:avLst/>
          </a:prstGeom>
          <a:noFill/>
        </p:spPr>
        <p:txBody>
          <a:bodyPr wrap="square">
            <a:spAutoFit/>
          </a:bodyPr>
          <a:lstStyle/>
          <a:p>
            <a:pPr algn="ctr"/>
            <a:r>
              <a:rPr sz="900" b="0">
                <a:solidFill>
                  <a:srgbClr val="8B949E"/>
                </a:solidFill>
                <a:latin typeface="Calibri"/>
              </a:rPr>
              <a:t>★ Meilleur Sharpe Ratio  |  Les performances passées ne garantissent pas les résultats futurs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548640"/>
          </a:xfrm>
          <a:prstGeom prst="rect">
            <a:avLst/>
          </a:prstGeom>
          <a:noFill/>
        </p:spPr>
        <p:txBody>
          <a:bodyPr wrap="square">
            <a:spAutoFit/>
          </a:bodyPr>
          <a:lstStyle/>
          <a:p>
            <a:pPr algn="l"/>
            <a:r>
              <a:rPr sz="1600" b="1">
                <a:solidFill>
                  <a:srgbClr val="00D4FF"/>
                </a:solidFill>
                <a:latin typeface="Calibri"/>
              </a:rPr>
              <a:t>ÉVOLUTION HISTORIQUE DES PRIX — ORCL</a:t>
            </a:r>
          </a:p>
        </p:txBody>
      </p:sp>
      <p:sp>
        <p:nvSpPr>
          <p:cNvPr id="4" name="Rectangle 3"/>
          <p:cNvSpPr/>
          <p:nvPr/>
        </p:nvSpPr>
        <p:spPr>
          <a:xfrm>
            <a:off x="274320" y="731520"/>
            <a:ext cx="11064240" cy="1905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1_ORCL_price_history.png"/>
          <p:cNvPicPr>
            <a:picLocks noChangeAspect="1"/>
          </p:cNvPicPr>
          <p:nvPr/>
        </p:nvPicPr>
        <p:blipFill>
          <a:blip r:embed="rId2"/>
          <a:stretch>
            <a:fillRect/>
          </a:stretch>
        </p:blipFill>
        <p:spPr>
          <a:xfrm>
            <a:off x="274320" y="914400"/>
            <a:ext cx="11064240" cy="521208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548640"/>
          </a:xfrm>
          <a:prstGeom prst="rect">
            <a:avLst/>
          </a:prstGeom>
          <a:noFill/>
        </p:spPr>
        <p:txBody>
          <a:bodyPr wrap="square">
            <a:spAutoFit/>
          </a:bodyPr>
          <a:lstStyle/>
          <a:p>
            <a:pPr algn="l"/>
            <a:r>
              <a:rPr sz="1600" b="1">
                <a:solidFill>
                  <a:srgbClr val="00D4FF"/>
                </a:solidFill>
                <a:latin typeface="Calibri"/>
              </a:rPr>
              <a:t>DISTRIBUTION DES RENDEMENTS — ORCL</a:t>
            </a:r>
          </a:p>
        </p:txBody>
      </p:sp>
      <p:sp>
        <p:nvSpPr>
          <p:cNvPr id="4" name="Rectangle 3"/>
          <p:cNvSpPr/>
          <p:nvPr/>
        </p:nvSpPr>
        <p:spPr>
          <a:xfrm>
            <a:off x="274320" y="731520"/>
            <a:ext cx="11064240" cy="1905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1_ORCL_returns_dist.png"/>
          <p:cNvPicPr>
            <a:picLocks noChangeAspect="1"/>
          </p:cNvPicPr>
          <p:nvPr/>
        </p:nvPicPr>
        <p:blipFill>
          <a:blip r:embed="rId2"/>
          <a:stretch>
            <a:fillRect/>
          </a:stretch>
        </p:blipFill>
        <p:spPr>
          <a:xfrm>
            <a:off x="274320" y="914400"/>
            <a:ext cx="11064240" cy="521208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548640"/>
          </a:xfrm>
          <a:prstGeom prst="rect">
            <a:avLst/>
          </a:prstGeom>
          <a:noFill/>
        </p:spPr>
        <p:txBody>
          <a:bodyPr wrap="square">
            <a:spAutoFit/>
          </a:bodyPr>
          <a:lstStyle/>
          <a:p>
            <a:pPr algn="l"/>
            <a:r>
              <a:rPr sz="1600" b="1">
                <a:solidFill>
                  <a:srgbClr val="00D4FF"/>
                </a:solidFill>
                <a:latin typeface="Calibri"/>
              </a:rPr>
              <a:t>ANALYSE DU DRAWDOWN — ORCL</a:t>
            </a:r>
          </a:p>
        </p:txBody>
      </p:sp>
      <p:sp>
        <p:nvSpPr>
          <p:cNvPr id="4" name="Rectangle 3"/>
          <p:cNvSpPr/>
          <p:nvPr/>
        </p:nvSpPr>
        <p:spPr>
          <a:xfrm>
            <a:off x="274320" y="731520"/>
            <a:ext cx="11064240" cy="1905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1_ORCL_drawdown.png"/>
          <p:cNvPicPr>
            <a:picLocks noChangeAspect="1"/>
          </p:cNvPicPr>
          <p:nvPr/>
        </p:nvPicPr>
        <p:blipFill>
          <a:blip r:embed="rId2"/>
          <a:stretch>
            <a:fillRect/>
          </a:stretch>
        </p:blipFill>
        <p:spPr>
          <a:xfrm>
            <a:off x="274320" y="914400"/>
            <a:ext cx="11064240" cy="521208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548640"/>
          </a:xfrm>
          <a:prstGeom prst="rect">
            <a:avLst/>
          </a:prstGeom>
          <a:noFill/>
        </p:spPr>
        <p:txBody>
          <a:bodyPr wrap="square">
            <a:spAutoFit/>
          </a:bodyPr>
          <a:lstStyle/>
          <a:p>
            <a:pPr algn="l"/>
            <a:r>
              <a:rPr sz="1600" b="1">
                <a:solidFill>
                  <a:srgbClr val="00D4FF"/>
                </a:solidFill>
                <a:latin typeface="Calibri"/>
              </a:rPr>
              <a:t>MOYENNES MOBILES — ORCL</a:t>
            </a:r>
          </a:p>
        </p:txBody>
      </p:sp>
      <p:sp>
        <p:nvSpPr>
          <p:cNvPr id="4" name="Rectangle 3"/>
          <p:cNvSpPr/>
          <p:nvPr/>
        </p:nvSpPr>
        <p:spPr>
          <a:xfrm>
            <a:off x="274320" y="731520"/>
            <a:ext cx="11064240" cy="1905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1_ORCL_moving_averages.png"/>
          <p:cNvPicPr>
            <a:picLocks noChangeAspect="1"/>
          </p:cNvPicPr>
          <p:nvPr/>
        </p:nvPicPr>
        <p:blipFill>
          <a:blip r:embed="rId2"/>
          <a:stretch>
            <a:fillRect/>
          </a:stretch>
        </p:blipFill>
        <p:spPr>
          <a:xfrm>
            <a:off x="274320" y="914400"/>
            <a:ext cx="11064240" cy="521208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548640"/>
          </a:xfrm>
          <a:prstGeom prst="rect">
            <a:avLst/>
          </a:prstGeom>
          <a:noFill/>
        </p:spPr>
        <p:txBody>
          <a:bodyPr wrap="square">
            <a:spAutoFit/>
          </a:bodyPr>
          <a:lstStyle/>
          <a:p>
            <a:pPr algn="l"/>
            <a:r>
              <a:rPr sz="1600" b="1">
                <a:solidFill>
                  <a:srgbClr val="00D4FF"/>
                </a:solidFill>
                <a:latin typeface="Calibri"/>
              </a:rPr>
              <a:t>RSI — RELATIVE STRENGTH INDEX — ORCL</a:t>
            </a:r>
          </a:p>
        </p:txBody>
      </p:sp>
      <p:sp>
        <p:nvSpPr>
          <p:cNvPr id="4" name="Rectangle 3"/>
          <p:cNvSpPr/>
          <p:nvPr/>
        </p:nvSpPr>
        <p:spPr>
          <a:xfrm>
            <a:off x="274320" y="731520"/>
            <a:ext cx="11064240" cy="1905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1_ORCL_rsi.png"/>
          <p:cNvPicPr>
            <a:picLocks noChangeAspect="1"/>
          </p:cNvPicPr>
          <p:nvPr/>
        </p:nvPicPr>
        <p:blipFill>
          <a:blip r:embed="rId2"/>
          <a:stretch>
            <a:fillRect/>
          </a:stretch>
        </p:blipFill>
        <p:spPr>
          <a:xfrm>
            <a:off x="274320" y="914400"/>
            <a:ext cx="11064240" cy="521208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548640"/>
          </a:xfrm>
          <a:prstGeom prst="rect">
            <a:avLst/>
          </a:prstGeom>
          <a:noFill/>
        </p:spPr>
        <p:txBody>
          <a:bodyPr wrap="square">
            <a:spAutoFit/>
          </a:bodyPr>
          <a:lstStyle/>
          <a:p>
            <a:pPr algn="l"/>
            <a:r>
              <a:rPr sz="1600" b="1">
                <a:solidFill>
                  <a:srgbClr val="00D4FF"/>
                </a:solidFill>
                <a:latin typeface="Calibri"/>
              </a:rPr>
              <a:t>BANDES DE BOLLINGER — ORCL</a:t>
            </a:r>
          </a:p>
        </p:txBody>
      </p:sp>
      <p:sp>
        <p:nvSpPr>
          <p:cNvPr id="4" name="Rectangle 3"/>
          <p:cNvSpPr/>
          <p:nvPr/>
        </p:nvSpPr>
        <p:spPr>
          <a:xfrm>
            <a:off x="274320" y="731520"/>
            <a:ext cx="11064240" cy="1905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1_ORCL_bollinger.png"/>
          <p:cNvPicPr>
            <a:picLocks noChangeAspect="1"/>
          </p:cNvPicPr>
          <p:nvPr/>
        </p:nvPicPr>
        <p:blipFill>
          <a:blip r:embed="rId2"/>
          <a:stretch>
            <a:fillRect/>
          </a:stretch>
        </p:blipFill>
        <p:spPr>
          <a:xfrm>
            <a:off x="274320" y="914400"/>
            <a:ext cx="11064240" cy="521208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548640"/>
          </a:xfrm>
          <a:prstGeom prst="rect">
            <a:avLst/>
          </a:prstGeom>
          <a:noFill/>
        </p:spPr>
        <p:txBody>
          <a:bodyPr wrap="square">
            <a:spAutoFit/>
          </a:bodyPr>
          <a:lstStyle/>
          <a:p>
            <a:pPr algn="l"/>
            <a:r>
              <a:rPr sz="1600" b="1">
                <a:solidFill>
                  <a:srgbClr val="00D4FF"/>
                </a:solidFill>
                <a:latin typeface="Calibri"/>
              </a:rPr>
              <a:t>MACD — ORCL</a:t>
            </a:r>
          </a:p>
        </p:txBody>
      </p:sp>
      <p:sp>
        <p:nvSpPr>
          <p:cNvPr id="4" name="Rectangle 3"/>
          <p:cNvSpPr/>
          <p:nvPr/>
        </p:nvSpPr>
        <p:spPr>
          <a:xfrm>
            <a:off x="274320" y="731520"/>
            <a:ext cx="11064240" cy="1905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1_ORCL_macd.png"/>
          <p:cNvPicPr>
            <a:picLocks noChangeAspect="1"/>
          </p:cNvPicPr>
          <p:nvPr/>
        </p:nvPicPr>
        <p:blipFill>
          <a:blip r:embed="rId2"/>
          <a:stretch>
            <a:fillRect/>
          </a:stretch>
        </p:blipFill>
        <p:spPr>
          <a:xfrm>
            <a:off x="274320" y="914400"/>
            <a:ext cx="11064240" cy="521208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548640"/>
          </a:xfrm>
          <a:prstGeom prst="rect">
            <a:avLst/>
          </a:prstGeom>
          <a:noFill/>
        </p:spPr>
        <p:txBody>
          <a:bodyPr wrap="square">
            <a:spAutoFit/>
          </a:bodyPr>
          <a:lstStyle/>
          <a:p>
            <a:pPr algn="l"/>
            <a:r>
              <a:rPr sz="1600" b="1">
                <a:solidFill>
                  <a:srgbClr val="00D4FF"/>
                </a:solidFill>
                <a:latin typeface="Calibri"/>
              </a:rPr>
              <a:t>TABLEAU DE BORD DES MÉTRIQUES — ORCL</a:t>
            </a:r>
          </a:p>
        </p:txBody>
      </p:sp>
      <p:sp>
        <p:nvSpPr>
          <p:cNvPr id="4" name="Rectangle 3"/>
          <p:cNvSpPr/>
          <p:nvPr/>
        </p:nvSpPr>
        <p:spPr>
          <a:xfrm>
            <a:off x="274320" y="731520"/>
            <a:ext cx="11064240" cy="1905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1_ORCL_metrics_dashboard.png"/>
          <p:cNvPicPr>
            <a:picLocks noChangeAspect="1"/>
          </p:cNvPicPr>
          <p:nvPr/>
        </p:nvPicPr>
        <p:blipFill>
          <a:blip r:embed="rId2"/>
          <a:stretch>
            <a:fillRect/>
          </a:stretch>
        </p:blipFill>
        <p:spPr>
          <a:xfrm>
            <a:off x="274320" y="914400"/>
            <a:ext cx="11064240" cy="521208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548640"/>
          </a:xfrm>
          <a:prstGeom prst="rect">
            <a:avLst/>
          </a:prstGeom>
          <a:noFill/>
        </p:spPr>
        <p:txBody>
          <a:bodyPr wrap="square">
            <a:spAutoFit/>
          </a:bodyPr>
          <a:lstStyle/>
          <a:p>
            <a:pPr algn="l"/>
            <a:r>
              <a:rPr sz="1600" b="1">
                <a:solidFill>
                  <a:srgbClr val="00D4FF"/>
                </a:solidFill>
                <a:latin typeface="Calibri"/>
              </a:rPr>
              <a:t>SHARPE RATIO GLISSANT — ORCL</a:t>
            </a:r>
          </a:p>
        </p:txBody>
      </p:sp>
      <p:sp>
        <p:nvSpPr>
          <p:cNvPr id="4" name="Rectangle 3"/>
          <p:cNvSpPr/>
          <p:nvPr/>
        </p:nvSpPr>
        <p:spPr>
          <a:xfrm>
            <a:off x="274320" y="731520"/>
            <a:ext cx="11064240" cy="1905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1_ORCL_rolling_sharpe.png"/>
          <p:cNvPicPr>
            <a:picLocks noChangeAspect="1"/>
          </p:cNvPicPr>
          <p:nvPr/>
        </p:nvPicPr>
        <p:blipFill>
          <a:blip r:embed="rId2"/>
          <a:stretch>
            <a:fillRect/>
          </a:stretch>
        </p:blipFill>
        <p:spPr>
          <a:xfrm>
            <a:off x="274320" y="914400"/>
            <a:ext cx="11064240" cy="521208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548640"/>
          </a:xfrm>
          <a:prstGeom prst="rect">
            <a:avLst/>
          </a:prstGeom>
          <a:noFill/>
        </p:spPr>
        <p:txBody>
          <a:bodyPr wrap="square">
            <a:spAutoFit/>
          </a:bodyPr>
          <a:lstStyle/>
          <a:p>
            <a:pPr algn="l"/>
            <a:r>
              <a:rPr sz="1600" b="1">
                <a:solidFill>
                  <a:srgbClr val="00D4FF"/>
                </a:solidFill>
                <a:latin typeface="Calibri"/>
              </a:rPr>
              <a:t>VOLATILITÉ GLISSANTE — ORCL</a:t>
            </a:r>
          </a:p>
        </p:txBody>
      </p:sp>
      <p:sp>
        <p:nvSpPr>
          <p:cNvPr id="4" name="Rectangle 3"/>
          <p:cNvSpPr/>
          <p:nvPr/>
        </p:nvSpPr>
        <p:spPr>
          <a:xfrm>
            <a:off x="274320" y="731520"/>
            <a:ext cx="11064240" cy="1905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1_ORCL_rolling_volatility.png"/>
          <p:cNvPicPr>
            <a:picLocks noChangeAspect="1"/>
          </p:cNvPicPr>
          <p:nvPr/>
        </p:nvPicPr>
        <p:blipFill>
          <a:blip r:embed="rId2"/>
          <a:stretch>
            <a:fillRect/>
          </a:stretch>
        </p:blipFill>
        <p:spPr>
          <a:xfrm>
            <a:off x="274320" y="914400"/>
            <a:ext cx="11064240" cy="521208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548640"/>
          </a:xfrm>
          <a:prstGeom prst="rect">
            <a:avLst/>
          </a:prstGeom>
          <a:noFill/>
        </p:spPr>
        <p:txBody>
          <a:bodyPr wrap="square">
            <a:spAutoFit/>
          </a:bodyPr>
          <a:lstStyle/>
          <a:p>
            <a:pPr algn="l"/>
            <a:r>
              <a:rPr sz="1600" b="1">
                <a:solidFill>
                  <a:srgbClr val="00D4FF"/>
                </a:solidFill>
                <a:latin typeface="Calibri"/>
              </a:rPr>
              <a:t>SIMULATION MONTE CARLO — ORCL</a:t>
            </a:r>
          </a:p>
        </p:txBody>
      </p:sp>
      <p:sp>
        <p:nvSpPr>
          <p:cNvPr id="4" name="Rectangle 3"/>
          <p:cNvSpPr/>
          <p:nvPr/>
        </p:nvSpPr>
        <p:spPr>
          <a:xfrm>
            <a:off x="274320" y="731520"/>
            <a:ext cx="11064240" cy="1905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1_ORCL_monte_carlo.png"/>
          <p:cNvPicPr>
            <a:picLocks noChangeAspect="1"/>
          </p:cNvPicPr>
          <p:nvPr/>
        </p:nvPicPr>
        <p:blipFill>
          <a:blip r:embed="rId2"/>
          <a:stretch>
            <a:fillRect/>
          </a:stretch>
        </p:blipFill>
        <p:spPr>
          <a:xfrm>
            <a:off x="274320" y="914400"/>
            <a:ext cx="11064240" cy="521208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548640"/>
          </a:xfrm>
          <a:prstGeom prst="rect">
            <a:avLst/>
          </a:prstGeom>
          <a:noFill/>
        </p:spPr>
        <p:txBody>
          <a:bodyPr wrap="square">
            <a:spAutoFit/>
          </a:bodyPr>
          <a:lstStyle/>
          <a:p>
            <a:pPr algn="l"/>
            <a:r>
              <a:rPr sz="1600" b="1">
                <a:solidFill>
                  <a:srgbClr val="00D4FF"/>
                </a:solidFill>
                <a:latin typeface="Calibri"/>
              </a:rPr>
              <a:t>SIMULATION MONTE CARLO — ORCL</a:t>
            </a:r>
          </a:p>
        </p:txBody>
      </p:sp>
      <p:sp>
        <p:nvSpPr>
          <p:cNvPr id="4" name="Rectangle 3"/>
          <p:cNvSpPr/>
          <p:nvPr/>
        </p:nvSpPr>
        <p:spPr>
          <a:xfrm>
            <a:off x="274320" y="731520"/>
            <a:ext cx="11064240" cy="1905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1_ORCL_monte_carlo_stats.png"/>
          <p:cNvPicPr>
            <a:picLocks noChangeAspect="1"/>
          </p:cNvPicPr>
          <p:nvPr/>
        </p:nvPicPr>
        <p:blipFill>
          <a:blip r:embed="rId2"/>
          <a:stretch>
            <a:fillRect/>
          </a:stretch>
        </p:blipFill>
        <p:spPr>
          <a:xfrm>
            <a:off x="274320" y="914400"/>
            <a:ext cx="11064240" cy="521208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548640"/>
          </a:xfrm>
          <a:prstGeom prst="rect">
            <a:avLst/>
          </a:prstGeom>
          <a:noFill/>
        </p:spPr>
        <p:txBody>
          <a:bodyPr wrap="square">
            <a:spAutoFit/>
          </a:bodyPr>
          <a:lstStyle/>
          <a:p>
            <a:pPr algn="l"/>
            <a:r>
              <a:rPr sz="1600" b="1">
                <a:solidFill>
                  <a:srgbClr val="00D4FF"/>
                </a:solidFill>
                <a:latin typeface="Calibri"/>
              </a:rPr>
              <a:t>COMPARAISON DES STRATÉGIES — ORCL</a:t>
            </a:r>
          </a:p>
        </p:txBody>
      </p:sp>
      <p:sp>
        <p:nvSpPr>
          <p:cNvPr id="4" name="Rectangle 3"/>
          <p:cNvSpPr/>
          <p:nvPr/>
        </p:nvSpPr>
        <p:spPr>
          <a:xfrm>
            <a:off x="274320" y="731520"/>
            <a:ext cx="11064240" cy="1905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1_ORCL_backtest_comparison.png"/>
          <p:cNvPicPr>
            <a:picLocks noChangeAspect="1"/>
          </p:cNvPicPr>
          <p:nvPr/>
        </p:nvPicPr>
        <p:blipFill>
          <a:blip r:embed="rId2"/>
          <a:stretch>
            <a:fillRect/>
          </a:stretch>
        </p:blipFill>
        <p:spPr>
          <a:xfrm>
            <a:off x="274320" y="914400"/>
            <a:ext cx="11064240" cy="521208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548640"/>
          </a:xfrm>
          <a:prstGeom prst="rect">
            <a:avLst/>
          </a:prstGeom>
          <a:noFill/>
        </p:spPr>
        <p:txBody>
          <a:bodyPr wrap="square">
            <a:spAutoFit/>
          </a:bodyPr>
          <a:lstStyle/>
          <a:p>
            <a:pPr algn="l"/>
            <a:r>
              <a:rPr sz="1600" b="1">
                <a:solidFill>
                  <a:srgbClr val="00D4FF"/>
                </a:solidFill>
                <a:latin typeface="Calibri"/>
              </a:rPr>
              <a:t>STRESS TESTING — ORCL</a:t>
            </a:r>
          </a:p>
        </p:txBody>
      </p:sp>
      <p:sp>
        <p:nvSpPr>
          <p:cNvPr id="4" name="Rectangle 3"/>
          <p:cNvSpPr/>
          <p:nvPr/>
        </p:nvSpPr>
        <p:spPr>
          <a:xfrm>
            <a:off x="274320" y="731520"/>
            <a:ext cx="11064240" cy="1905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1_ORCL_stress_test.png"/>
          <p:cNvPicPr>
            <a:picLocks noChangeAspect="1"/>
          </p:cNvPicPr>
          <p:nvPr/>
        </p:nvPicPr>
        <p:blipFill>
          <a:blip r:embed="rId2"/>
          <a:stretch>
            <a:fillRect/>
          </a:stretch>
        </p:blipFill>
        <p:spPr>
          <a:xfrm>
            <a:off x="274320" y="914400"/>
            <a:ext cx="11064240" cy="521208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548640"/>
          </a:xfrm>
          <a:prstGeom prst="rect">
            <a:avLst/>
          </a:prstGeom>
          <a:noFill/>
        </p:spPr>
        <p:txBody>
          <a:bodyPr wrap="square">
            <a:spAutoFit/>
          </a:bodyPr>
          <a:lstStyle/>
          <a:p>
            <a:pPr algn="l"/>
            <a:r>
              <a:rPr sz="1600" b="1">
                <a:solidFill>
                  <a:srgbClr val="00D4FF"/>
                </a:solidFill>
                <a:latin typeface="Calibri"/>
              </a:rPr>
              <a:t>MODÈLES FACTORIELS — ORCL</a:t>
            </a:r>
          </a:p>
        </p:txBody>
      </p:sp>
      <p:sp>
        <p:nvSpPr>
          <p:cNvPr id="4" name="Rectangle 3"/>
          <p:cNvSpPr/>
          <p:nvPr/>
        </p:nvSpPr>
        <p:spPr>
          <a:xfrm>
            <a:off x="274320" y="731520"/>
            <a:ext cx="11064240" cy="1905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1_ORCL_factor_model.png"/>
          <p:cNvPicPr>
            <a:picLocks noChangeAspect="1"/>
          </p:cNvPicPr>
          <p:nvPr/>
        </p:nvPicPr>
        <p:blipFill>
          <a:blip r:embed="rId2"/>
          <a:stretch>
            <a:fillRect/>
          </a:stretch>
        </p:blipFill>
        <p:spPr>
          <a:xfrm>
            <a:off x="274320" y="914400"/>
            <a:ext cx="11064240" cy="521208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548640"/>
          </a:xfrm>
          <a:prstGeom prst="rect">
            <a:avLst/>
          </a:prstGeom>
          <a:noFill/>
        </p:spPr>
        <p:txBody>
          <a:bodyPr wrap="square">
            <a:spAutoFit/>
          </a:bodyPr>
          <a:lstStyle/>
          <a:p>
            <a:pPr algn="l"/>
            <a:r>
              <a:rPr sz="1600" b="1">
                <a:solidFill>
                  <a:srgbClr val="00D4FF"/>
                </a:solidFill>
                <a:latin typeface="Calibri"/>
              </a:rPr>
              <a:t>TRADING SIGNALS — ORCL</a:t>
            </a:r>
          </a:p>
        </p:txBody>
      </p:sp>
      <p:sp>
        <p:nvSpPr>
          <p:cNvPr id="4" name="Rectangle 3"/>
          <p:cNvSpPr/>
          <p:nvPr/>
        </p:nvSpPr>
        <p:spPr>
          <a:xfrm>
            <a:off x="274320" y="731520"/>
            <a:ext cx="11064240" cy="1905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1_ORCL_trading_signals.png"/>
          <p:cNvPicPr>
            <a:picLocks noChangeAspect="1"/>
          </p:cNvPicPr>
          <p:nvPr/>
        </p:nvPicPr>
        <p:blipFill>
          <a:blip r:embed="rId2"/>
          <a:stretch>
            <a:fillRect/>
          </a:stretch>
        </p:blipFill>
        <p:spPr>
          <a:xfrm>
            <a:off x="274320" y="914400"/>
            <a:ext cx="11064240" cy="521208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548640"/>
          </a:xfrm>
          <a:prstGeom prst="rect">
            <a:avLst/>
          </a:prstGeom>
          <a:noFill/>
        </p:spPr>
        <p:txBody>
          <a:bodyPr wrap="square">
            <a:spAutoFit/>
          </a:bodyPr>
          <a:lstStyle/>
          <a:p>
            <a:pPr algn="l"/>
            <a:r>
              <a:rPr sz="1600" b="1">
                <a:solidFill>
                  <a:srgbClr val="00D4FF"/>
                </a:solidFill>
                <a:latin typeface="Calibri"/>
              </a:rPr>
              <a:t>MC OPTIONS COMPARISON — ORCL</a:t>
            </a:r>
          </a:p>
        </p:txBody>
      </p:sp>
      <p:sp>
        <p:nvSpPr>
          <p:cNvPr id="4" name="Rectangle 3"/>
          <p:cNvSpPr/>
          <p:nvPr/>
        </p:nvSpPr>
        <p:spPr>
          <a:xfrm>
            <a:off x="274320" y="731520"/>
            <a:ext cx="11064240" cy="1905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1_ORCL_mc_options_comparison.png"/>
          <p:cNvPicPr>
            <a:picLocks noChangeAspect="1"/>
          </p:cNvPicPr>
          <p:nvPr/>
        </p:nvPicPr>
        <p:blipFill>
          <a:blip r:embed="rId2"/>
          <a:stretch>
            <a:fillRect/>
          </a:stretch>
        </p:blipFill>
        <p:spPr>
          <a:xfrm>
            <a:off x="274320" y="914400"/>
            <a:ext cx="11064240" cy="521208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548640"/>
          </a:xfrm>
          <a:prstGeom prst="rect">
            <a:avLst/>
          </a:prstGeom>
          <a:noFill/>
        </p:spPr>
        <p:txBody>
          <a:bodyPr wrap="square">
            <a:spAutoFit/>
          </a:bodyPr>
          <a:lstStyle/>
          <a:p>
            <a:pPr algn="l"/>
            <a:r>
              <a:rPr sz="1600" b="1">
                <a:solidFill>
                  <a:srgbClr val="00D4FF"/>
                </a:solidFill>
                <a:latin typeface="Calibri"/>
              </a:rPr>
              <a:t>BARRIER ANALYSIS — ORCL</a:t>
            </a:r>
          </a:p>
        </p:txBody>
      </p:sp>
      <p:sp>
        <p:nvSpPr>
          <p:cNvPr id="4" name="Rectangle 3"/>
          <p:cNvSpPr/>
          <p:nvPr/>
        </p:nvSpPr>
        <p:spPr>
          <a:xfrm>
            <a:off x="274320" y="731520"/>
            <a:ext cx="11064240" cy="1905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1_ORCL_barrier_analysis.png"/>
          <p:cNvPicPr>
            <a:picLocks noChangeAspect="1"/>
          </p:cNvPicPr>
          <p:nvPr/>
        </p:nvPicPr>
        <p:blipFill>
          <a:blip r:embed="rId2"/>
          <a:stretch>
            <a:fillRect/>
          </a:stretch>
        </p:blipFill>
        <p:spPr>
          <a:xfrm>
            <a:off x="274320" y="914400"/>
            <a:ext cx="11064240" cy="521208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548640"/>
          </a:xfrm>
          <a:prstGeom prst="rect">
            <a:avLst/>
          </a:prstGeom>
          <a:noFill/>
        </p:spPr>
        <p:txBody>
          <a:bodyPr wrap="square">
            <a:spAutoFit/>
          </a:bodyPr>
          <a:lstStyle/>
          <a:p>
            <a:pPr algn="l"/>
            <a:r>
              <a:rPr sz="1600" b="1">
                <a:solidFill>
                  <a:srgbClr val="00D4FF"/>
                </a:solidFill>
                <a:latin typeface="Calibri"/>
              </a:rPr>
              <a:t>HESTON PARAMS — ORCL</a:t>
            </a:r>
          </a:p>
        </p:txBody>
      </p:sp>
      <p:sp>
        <p:nvSpPr>
          <p:cNvPr id="4" name="Rectangle 3"/>
          <p:cNvSpPr/>
          <p:nvPr/>
        </p:nvSpPr>
        <p:spPr>
          <a:xfrm>
            <a:off x="274320" y="731520"/>
            <a:ext cx="11064240" cy="1905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1_ORCL_heston_params.png"/>
          <p:cNvPicPr>
            <a:picLocks noChangeAspect="1"/>
          </p:cNvPicPr>
          <p:nvPr/>
        </p:nvPicPr>
        <p:blipFill>
          <a:blip r:embed="rId2"/>
          <a:stretch>
            <a:fillRect/>
          </a:stretch>
        </p:blipFill>
        <p:spPr>
          <a:xfrm>
            <a:off x="274320" y="914400"/>
            <a:ext cx="11064240" cy="521208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548640"/>
          </a:xfrm>
          <a:prstGeom prst="rect">
            <a:avLst/>
          </a:prstGeom>
          <a:noFill/>
        </p:spPr>
        <p:txBody>
          <a:bodyPr wrap="square">
            <a:spAutoFit/>
          </a:bodyPr>
          <a:lstStyle/>
          <a:p>
            <a:pPr algn="l"/>
            <a:r>
              <a:rPr sz="1600" b="1">
                <a:solidFill>
                  <a:srgbClr val="00D4FF"/>
                </a:solidFill>
                <a:latin typeface="Calibri"/>
              </a:rPr>
              <a:t>HESTON PRICING — ORCL</a:t>
            </a:r>
          </a:p>
        </p:txBody>
      </p:sp>
      <p:sp>
        <p:nvSpPr>
          <p:cNvPr id="4" name="Rectangle 3"/>
          <p:cNvSpPr/>
          <p:nvPr/>
        </p:nvSpPr>
        <p:spPr>
          <a:xfrm>
            <a:off x="274320" y="731520"/>
            <a:ext cx="11064240" cy="1905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1_ORCL_heston_pricing.png"/>
          <p:cNvPicPr>
            <a:picLocks noChangeAspect="1"/>
          </p:cNvPicPr>
          <p:nvPr/>
        </p:nvPicPr>
        <p:blipFill>
          <a:blip r:embed="rId2"/>
          <a:stretch>
            <a:fillRect/>
          </a:stretch>
        </p:blipFill>
        <p:spPr>
          <a:xfrm>
            <a:off x="274320" y="914400"/>
            <a:ext cx="11064240" cy="521208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548640"/>
          </a:xfrm>
          <a:prstGeom prst="rect">
            <a:avLst/>
          </a:prstGeom>
          <a:noFill/>
        </p:spPr>
        <p:txBody>
          <a:bodyPr wrap="square">
            <a:spAutoFit/>
          </a:bodyPr>
          <a:lstStyle/>
          <a:p>
            <a:pPr algn="l"/>
            <a:r>
              <a:rPr sz="1600" b="1">
                <a:solidFill>
                  <a:srgbClr val="00D4FF"/>
                </a:solidFill>
                <a:latin typeface="Calibri"/>
              </a:rPr>
              <a:t>HESTON VS BS — ORCL</a:t>
            </a:r>
          </a:p>
        </p:txBody>
      </p:sp>
      <p:sp>
        <p:nvSpPr>
          <p:cNvPr id="4" name="Rectangle 3"/>
          <p:cNvSpPr/>
          <p:nvPr/>
        </p:nvSpPr>
        <p:spPr>
          <a:xfrm>
            <a:off x="274320" y="731520"/>
            <a:ext cx="11064240" cy="1905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1_ORCL_heston_vs_bs.png"/>
          <p:cNvPicPr>
            <a:picLocks noChangeAspect="1"/>
          </p:cNvPicPr>
          <p:nvPr/>
        </p:nvPicPr>
        <p:blipFill>
          <a:blip r:embed="rId2"/>
          <a:stretch>
            <a:fillRect/>
          </a:stretch>
        </p:blipFill>
        <p:spPr>
          <a:xfrm>
            <a:off x="274320" y="914400"/>
            <a:ext cx="11064240" cy="521208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548640"/>
          </a:xfrm>
          <a:prstGeom prst="rect">
            <a:avLst/>
          </a:prstGeom>
          <a:noFill/>
        </p:spPr>
        <p:txBody>
          <a:bodyPr wrap="square">
            <a:spAutoFit/>
          </a:bodyPr>
          <a:lstStyle/>
          <a:p>
            <a:pPr algn="l"/>
            <a:r>
              <a:rPr sz="1600" b="1">
                <a:solidFill>
                  <a:srgbClr val="00D4FF"/>
                </a:solidFill>
                <a:latin typeface="Calibri"/>
              </a:rPr>
              <a:t>HESTON PATHS — ORCL</a:t>
            </a:r>
          </a:p>
        </p:txBody>
      </p:sp>
      <p:sp>
        <p:nvSpPr>
          <p:cNvPr id="4" name="Rectangle 3"/>
          <p:cNvSpPr/>
          <p:nvPr/>
        </p:nvSpPr>
        <p:spPr>
          <a:xfrm>
            <a:off x="274320" y="731520"/>
            <a:ext cx="11064240" cy="1905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1_ORCL_heston_paths.png"/>
          <p:cNvPicPr>
            <a:picLocks noChangeAspect="1"/>
          </p:cNvPicPr>
          <p:nvPr/>
        </p:nvPicPr>
        <p:blipFill>
          <a:blip r:embed="rId2"/>
          <a:stretch>
            <a:fillRect/>
          </a:stretch>
        </p:blipFill>
        <p:spPr>
          <a:xfrm>
            <a:off x="274320" y="914400"/>
            <a:ext cx="11064240" cy="521208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548640"/>
          </a:xfrm>
          <a:prstGeom prst="rect">
            <a:avLst/>
          </a:prstGeom>
          <a:noFill/>
        </p:spPr>
        <p:txBody>
          <a:bodyPr wrap="square">
            <a:spAutoFit/>
          </a:bodyPr>
          <a:lstStyle/>
          <a:p>
            <a:pPr algn="l"/>
            <a:r>
              <a:rPr sz="1600" b="1">
                <a:solidFill>
                  <a:srgbClr val="00D4FF"/>
                </a:solidFill>
                <a:latin typeface="Calibri"/>
              </a:rPr>
              <a:t>HESTON VOL SURFACE — ORCL</a:t>
            </a:r>
          </a:p>
        </p:txBody>
      </p:sp>
      <p:sp>
        <p:nvSpPr>
          <p:cNvPr id="4" name="Rectangle 3"/>
          <p:cNvSpPr/>
          <p:nvPr/>
        </p:nvSpPr>
        <p:spPr>
          <a:xfrm>
            <a:off x="274320" y="731520"/>
            <a:ext cx="11064240" cy="1905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1_ORCL_heston_vol_surface.png"/>
          <p:cNvPicPr>
            <a:picLocks noChangeAspect="1"/>
          </p:cNvPicPr>
          <p:nvPr/>
        </p:nvPicPr>
        <p:blipFill>
          <a:blip r:embed="rId2"/>
          <a:stretch>
            <a:fillRect/>
          </a:stretch>
        </p:blipFill>
        <p:spPr>
          <a:xfrm>
            <a:off x="274320" y="914400"/>
            <a:ext cx="11064240" cy="521208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926080"/>
            <a:ext cx="12188952" cy="3810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731520"/>
          </a:xfrm>
          <a:prstGeom prst="rect">
            <a:avLst/>
          </a:prstGeom>
          <a:noFill/>
        </p:spPr>
        <p:txBody>
          <a:bodyPr wrap="square">
            <a:spAutoFit/>
          </a:bodyPr>
          <a:lstStyle/>
          <a:p>
            <a:pPr algn="ctr"/>
            <a:r>
              <a:rPr sz="2800" b="1">
                <a:solidFill>
                  <a:srgbClr val="00D4FF"/>
                </a:solidFill>
                <a:latin typeface="Calibri"/>
              </a:rPr>
              <a:t>CONCLUSION</a:t>
            </a:r>
          </a:p>
        </p:txBody>
      </p:sp>
      <p:sp>
        <p:nvSpPr>
          <p:cNvPr id="5" name="TextBox 4"/>
          <p:cNvSpPr txBox="1"/>
          <p:nvPr/>
        </p:nvSpPr>
        <p:spPr>
          <a:xfrm>
            <a:off x="457200" y="1828800"/>
            <a:ext cx="10972800" cy="548640"/>
          </a:xfrm>
          <a:prstGeom prst="rect">
            <a:avLst/>
          </a:prstGeom>
          <a:noFill/>
        </p:spPr>
        <p:txBody>
          <a:bodyPr wrap="square">
            <a:spAutoFit/>
          </a:bodyPr>
          <a:lstStyle/>
          <a:p>
            <a:pPr algn="ctr"/>
            <a:r>
              <a:rPr sz="1400" b="0">
                <a:solidFill>
                  <a:srgbClr val="8B949E"/>
                </a:solidFill>
                <a:latin typeface="Calibri"/>
              </a:rPr>
              <a:t>Rapport généré automatiquement par le système d'analyse quantitative</a:t>
            </a:r>
          </a:p>
        </p:txBody>
      </p:sp>
      <p:sp>
        <p:nvSpPr>
          <p:cNvPr id="6" name="TextBox 5"/>
          <p:cNvSpPr txBox="1"/>
          <p:nvPr/>
        </p:nvSpPr>
        <p:spPr>
          <a:xfrm>
            <a:off x="457200" y="3200400"/>
            <a:ext cx="10972800" cy="548640"/>
          </a:xfrm>
          <a:prstGeom prst="rect">
            <a:avLst/>
          </a:prstGeom>
          <a:noFill/>
        </p:spPr>
        <p:txBody>
          <a:bodyPr wrap="square">
            <a:spAutoFit/>
          </a:bodyPr>
          <a:lstStyle/>
          <a:p>
            <a:pPr algn="ctr"/>
            <a:r>
              <a:rPr sz="1300" b="0">
                <a:solidFill>
                  <a:srgbClr val="FFFFFF"/>
                </a:solidFill>
                <a:latin typeface="Calibri"/>
              </a:rPr>
              <a:t>Powered by Groq AI &amp; Python Quant Engine</a:t>
            </a:r>
          </a:p>
        </p:txBody>
      </p:sp>
      <p:sp>
        <p:nvSpPr>
          <p:cNvPr id="7" name="TextBox 6"/>
          <p:cNvSpPr txBox="1"/>
          <p:nvPr/>
        </p:nvSpPr>
        <p:spPr>
          <a:xfrm>
            <a:off x="457200" y="4114800"/>
            <a:ext cx="10972800" cy="457200"/>
          </a:xfrm>
          <a:prstGeom prst="rect">
            <a:avLst/>
          </a:prstGeom>
          <a:noFill/>
        </p:spPr>
        <p:txBody>
          <a:bodyPr wrap="square">
            <a:spAutoFit/>
          </a:bodyPr>
          <a:lstStyle/>
          <a:p>
            <a:pPr algn="ctr"/>
            <a:r>
              <a:rPr sz="1200" b="0">
                <a:solidFill>
                  <a:srgbClr val="8B949E"/>
                </a:solidFill>
                <a:latin typeface="Calibri"/>
              </a:rPr>
              <a:t>15 April 2026 — 00:42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